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202d0a1483c4351" /><Relationship Type="http://schemas.openxmlformats.org/officeDocument/2006/relationships/extended-properties" Target="/docProps/app.xml" Id="R850edd7dd93340fd" /><Relationship Type="http://schemas.openxmlformats.org/officeDocument/2006/relationships/officeDocument" Target="/ppt/presentation.xml" Id="R08fd244e662844c3" /></Relationships>
</file>

<file path=ppt/presentation.xml><?xml version="1.0" encoding="utf-8"?>
<p:presentation xmlns:p="http://schemas.openxmlformats.org/presentationml/2006/main">
  <p:sldMasterIdLst>
    <p:sldMasterId xmlns:r="http://schemas.openxmlformats.org/officeDocument/2006/relationships" id="2147483648" r:id="Re0f06f3172784a96"/>
  </p:sldMasterIdLst>
  <p:notesMasterIdLst>
    <p:notesMasterId xmlns:r="http://schemas.openxmlformats.org/officeDocument/2006/relationships" r:id="R920f7ded0a514e40"/>
  </p:notesMasterIdLst>
  <p:sldIdLst>
    <p:sldId xmlns:r="http://schemas.openxmlformats.org/officeDocument/2006/relationships" id="256" r:id="R44d10a8748e5417a"/>
    <p:sldId xmlns:r="http://schemas.openxmlformats.org/officeDocument/2006/relationships" id="257" r:id="R7bea409cfc7b4c7e"/>
    <p:sldId xmlns:r="http://schemas.openxmlformats.org/officeDocument/2006/relationships" id="258" r:id="R3e0de8ee8fee4da3"/>
    <p:sldId xmlns:r="http://schemas.openxmlformats.org/officeDocument/2006/relationships" id="259" r:id="Rf6735f5758384b7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251122c7374972" /><Relationship Type="http://schemas.openxmlformats.org/officeDocument/2006/relationships/slideMaster" Target="/ppt/slideMasters/slideMaster1.xml" Id="Re0f06f3172784a96" /><Relationship Type="http://schemas.openxmlformats.org/officeDocument/2006/relationships/notesMaster" Target="/ppt/notesMasters/notesMaster1.xml" Id="R920f7ded0a514e40" /><Relationship Type="http://schemas.openxmlformats.org/officeDocument/2006/relationships/presProps" Target="/ppt/presProps.xml" Id="R1666be6260104153" /><Relationship Type="http://schemas.openxmlformats.org/officeDocument/2006/relationships/tableStyles" Target="/ppt/tableStyles.xml" Id="Raa3acd4115174385" /><Relationship Type="http://schemas.openxmlformats.org/officeDocument/2006/relationships/slide" Target="/ppt/slides/slide1.xml" Id="R44d10a8748e5417a" /><Relationship Type="http://schemas.openxmlformats.org/officeDocument/2006/relationships/slide" Target="/ppt/slides/slide2.xml" Id="R7bea409cfc7b4c7e" /><Relationship Type="http://schemas.openxmlformats.org/officeDocument/2006/relationships/slide" Target="/ppt/slides/slide3.xml" Id="R3e0de8ee8fee4da3" /><Relationship Type="http://schemas.openxmlformats.org/officeDocument/2006/relationships/slide" Target="/ppt/slides/slide4.xml" Id="Rf6735f5758384b7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25c523325e461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39a40d06cf240af" /><Relationship Type="http://schemas.openxmlformats.org/officeDocument/2006/relationships/notesMaster" Target="/ppt/notesMasters/notesMaster1.xml" Id="R06106a570b114f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21c79beade4624" /><Relationship Type="http://schemas.openxmlformats.org/officeDocument/2006/relationships/notesMaster" Target="/ppt/notesMasters/notesMaster1.xml" Id="R0318b550b9634c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84d80a8c4d4975" /><Relationship Type="http://schemas.openxmlformats.org/officeDocument/2006/relationships/notesMaster" Target="/ppt/notesMasters/notesMaster1.xml" Id="Rc3f5a0169e174a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473b73b9b24c18" /><Relationship Type="http://schemas.openxmlformats.org/officeDocument/2006/relationships/notesMaster" Target="/ppt/notesMasters/notesMaster1.xml" Id="Rcfc33c5c4ced4a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aproximada: 30 segundos.</a:t>
            </a:r>
          </a:p>
          <a:p xmlns:a="http://schemas.openxmlformats.org/drawingml/2006/main">
            <a:r>
              <a:t>Guion sugerido: Profe, estoy desarrollando Mantis IA para la feria de ciencia. La idea es crear un sistema que organice el mantenimiento preventivo y use IA para ayudar a interpretar la información. Quiero validar si el problema y el experimento están bien planteados.</a:t>
            </a:r>
          </a:p>
          <a:p xmlns:a="http://schemas.openxmlformats.org/drawingml/2006/main">
            <a:r>
              <a:t>La imagen es conceptual y fue generada para esta presentación. No representa una instalación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aproximada: 45 segundos.</a:t>
            </a:r>
          </a:p>
          <a:p xmlns:a="http://schemas.openxmlformats.org/drawingml/2006/main">
            <a:r>
              <a:t>Guion sugerido: El problema que queremos estudiar es la fragmentación de la información. Primero queremos saber si digitalizarla reduce tiempo y omisiones. Luego queremos medir si la IA aporta algo adicional al interpretar datos y manuales. La IA no tomaría la decisión por el técnico.</a:t>
            </a:r>
          </a:p>
          <a:p xmlns:a="http://schemas.openxmlformats.org/drawingml/2006/main">
            <a:r>
              <a:t>La imagen es conceptual y fue generada para esta presentación. No representa una intervención real.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aproximada: 60 segundos.</a:t>
            </a:r>
          </a:p>
          <a:p xmlns:a="http://schemas.openxmlformats.org/drawingml/2006/main">
            <a:r>
              <a:t>Guion sugerido: La idea científica es comparar tres condiciones. Primero, el proceso manual. Después, el mismo proceso usando Mantis sin IA. Finalmente, el mismo software con el asistente de IA. Así podemos separar el beneficio de digitalizar la información del aporte adicional de la IA. Mediremos tiempo, precisión, omisiones y trazabilidad.</a:t>
            </a:r>
          </a:p>
          <a:p xmlns:a="http://schemas.openxmlformats.org/drawingml/2006/main">
            <a:r>
              <a:t>Aclaración: para evitar que una persona aprenda la respuesta del primer caso, construiremos casos equivalentes y cambiaremos el orden de las condiciones entre participantes.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Duración aproximada: 2 minutos y 30 segundos.</a:t>
            </a:r>
          </a:p>
          <a:p xmlns:a="http://schemas.openxmlformats.org/drawingml/2006/main">
            <a:r>
              <a:t>Haz las cuatro preguntas en este orden. Si el profesor empieza a dar un ejemplo real, deja que lo termine y omite la pregunta menos importante por tiempo.</a:t>
            </a:r>
          </a:p>
          <a:p xmlns:a="http://schemas.openxmlformats.org/drawingml/2006/main">
            <a:r>
              <a:t>Repreguntas útiles: ¿puede darme un ejemplo concreto?, ¿cómo podríamos medirlo? y ¿quién toma esa decisión?</a:t>
            </a:r>
          </a:p>
          <a:p xmlns:a="http://schemas.openxmlformats.org/drawingml/2006/main">
            <a:r>
              <a:t>Evita explicar o defender la aplicación mientras responde. Anota frases concretas, máquinas sugeridas, tareas medibles y riesgos.</a:t>
            </a:r>
          </a:p>
          <a:p xmlns:a="http://schemas.openxmlformats.org/drawingml/2006/main">
            <a:r>
              <a:t>Cierre: ¿Puedo volver a consultarlo cuando tengamos listo el caso y la rúbrica?</a:t>
            </a:r>
          </a:p>
          <a:p xmlns:a="http://schemas.openxmlformats.org/drawingml/2006/main">
            <a:r>
              <a:t>La imagen es conceptual y fue generada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4dd9e8a6a145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9dd5620ed64a4f" /><Relationship Type="http://schemas.openxmlformats.org/officeDocument/2006/relationships/slideLayout" Target="/ppt/slideLayouts/slideLayout1.xml" Id="R098ad7718eee41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98ad7718eee41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e67f35eaca4327" /><Relationship Type="http://schemas.openxmlformats.org/officeDocument/2006/relationships/image" Target="/ppt/media/image.png" Id="Reb089831151e42ab" /><Relationship Type="http://schemas.openxmlformats.org/officeDocument/2006/relationships/notesSlide" Target="/ppt/notesSlides/notesSlide1.xml" Id="R3ea1e3b4981d4f2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a89e32176be413c" /><Relationship Type="http://schemas.openxmlformats.org/officeDocument/2006/relationships/image" Target="/ppt/media/image2.png" Id="Rc5dfa5f1d47946a5" /><Relationship Type="http://schemas.openxmlformats.org/officeDocument/2006/relationships/notesSlide" Target="/ppt/notesSlides/notesSlide2.xml" Id="R2dfacb4289584a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968a194aa854335" /><Relationship Type="http://schemas.openxmlformats.org/officeDocument/2006/relationships/notesSlide" Target="/ppt/notesSlides/notesSlide3.xml" Id="Rb2ddf6643b01452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7ff3ef02f841a4" /><Relationship Type="http://schemas.openxmlformats.org/officeDocument/2006/relationships/image" Target="/ppt/media/image3.png" Id="R51bff32a2f594ed4" /><Relationship Type="http://schemas.openxmlformats.org/officeDocument/2006/relationships/notesSlide" Target="/ppt/notesSlides/notesSlide4.xml" Id="R8311f2659c8a49af" /></Relationships>
</file>

<file path=ppt/slides/slide1.xml><?xml version="1.0" encoding="utf-8"?>
<p:sld xmlns:p="http://schemas.openxmlformats.org/presentationml/2006/main">
  <p:cSld>
    <p:bg>
      <p:bgPr>
        <a:solidFill xmlns:a="http://schemas.openxmlformats.org/drawingml/2006/main">
          <a:srgbClr val="0C0B20"/>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eb089831151e42a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54E094E-DB0F-4B43-ADBD-26D818A2D8BB}"/>
              </a:ext>
            </a:extLst>
          </p:cNvPr>
          <p:cNvSpPr>
            <a:spLocks xmlns:a="http://schemas.openxmlformats.org/drawingml/2006/main" noGrp="1"/>
          </p:cNvSpPr>
          <p:nvPr/>
        </p:nvSpPr>
        <p:spPr>
          <a:xfrm xmlns:a="http://schemas.openxmlformats.org/drawingml/2006/main">
            <a:off x="0" y="0"/>
            <a:ext cx="7334250" cy="6858000"/>
          </a:xfrm>
          <a:prstGeom xmlns:a="http://schemas.openxmlformats.org/drawingml/2006/main" prst="rect">
            <a:avLst/>
          </a:prstGeom>
          <a:gradFill xmlns:a="http://schemas.openxmlformats.org/drawingml/2006/main">
            <a:gsLst>
              <a:gs pos="0">
                <a:srgbClr val="0C0B20">
                  <a:alpha val="98000"/>
                </a:srgbClr>
              </a:gs>
              <a:gs pos="58000">
                <a:srgbClr val="0C0B20">
                  <a:alpha val="88000"/>
                </a:srgbClr>
              </a:gs>
              <a:gs pos="100000">
                <a:srgbClr val="0C0B20">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BAFC161-6EF0-4EE3-8A6D-E1CEBF35B34D}"/>
              </a:ext>
            </a:extLst>
          </p:cNvPr>
          <p:cNvSpPr>
            <a:spLocks xmlns:a="http://schemas.openxmlformats.org/drawingml/2006/main" noGrp="1"/>
          </p:cNvSpPr>
          <p:nvPr/>
        </p:nvSpPr>
        <p:spPr>
          <a:xfrm xmlns:a="http://schemas.openxmlformats.org/drawingml/2006/main">
            <a:off x="685800" y="609600"/>
            <a:ext cx="781050" cy="47625"/>
          </a:xfrm>
          <a:prstGeom xmlns:a="http://schemas.openxmlformats.org/drawingml/2006/main" prst="rect">
            <a:avLst/>
          </a:prstGeom>
          <a:solidFill xmlns:a="http://schemas.openxmlformats.org/drawingml/2006/main">
            <a:srgbClr val="D9FF5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59B169B-1306-4698-AF57-A1383E2579D6}"/>
              </a:ext>
            </a:extLst>
          </p:cNvPr>
          <p:cNvSpPr>
            <a:spLocks xmlns:a="http://schemas.openxmlformats.org/drawingml/2006/main" noGrp="1"/>
          </p:cNvSpPr>
          <p:nvPr/>
        </p:nvSpPr>
        <p:spPr>
          <a:xfrm xmlns:a="http://schemas.openxmlformats.org/drawingml/2006/main">
            <a:off x="685800" y="800100"/>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5400" b="1">
                <a:solidFill>
                  <a:srgbClr val="FFFFFF"/>
                </a:solidFill>
                <a:latin typeface="Bahnschrift"/>
                <a:ea typeface="Bahnschrift"/>
                <a:cs typeface="Bahnschrift"/>
              </a:defRPr>
            </a:pPr>
            <a:r>
              <a:rPr sz="5400" b="1">
                <a:solidFill>
                  <a:srgbClr val="FFFFFF"/>
                </a:solidFill>
                <a:latin typeface="Bahnschrift"/>
                <a:ea typeface="Bahnschrift"/>
                <a:cs typeface="Bahnschrift"/>
              </a:rPr>
              <a:t>MANTIS IA</a:t>
            </a:r>
          </a:p>
        </p:txBody>
      </p:sp>
      <p:sp>
        <p:nvSpPr>
          <p:cNvPr id="5" name="">
            <a:extLst xmlns:a="http://schemas.openxmlformats.org/drawingml/2006/main">
              <a:ext uri="{FF2B5EF4-FFF2-40B4-BE49-F238E27FC236}">
                <a16:creationId xmlns:a16="http://schemas.microsoft.com/office/drawing/2014/main" id="{B65C147C-66CF-4F74-B78E-98FFFEA58768}"/>
              </a:ext>
            </a:extLst>
          </p:cNvPr>
          <p:cNvSpPr>
            <a:spLocks xmlns:a="http://schemas.openxmlformats.org/drawingml/2006/main" noGrp="1"/>
          </p:cNvSpPr>
          <p:nvPr/>
        </p:nvSpPr>
        <p:spPr>
          <a:xfrm xmlns:a="http://schemas.openxmlformats.org/drawingml/2006/main">
            <a:off x="723900" y="1905000"/>
            <a:ext cx="4953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550" b="0">
                <a:solidFill>
                  <a:srgbClr val="36D7C4"/>
                </a:solidFill>
                <a:latin typeface="Bahnschrift"/>
                <a:ea typeface="Bahnschrift"/>
                <a:cs typeface="Bahnschrift"/>
              </a:defRPr>
            </a:pPr>
            <a:r>
              <a:rPr sz="2550" b="0">
                <a:solidFill>
                  <a:srgbClr val="36D7C4"/>
                </a:solidFill>
                <a:latin typeface="Bahnschrift"/>
                <a:ea typeface="Bahnschrift"/>
                <a:cs typeface="Bahnschrift"/>
              </a:rPr>
              <a:t>Sistema inteligente para apoyar</a:t>
            </a:r>
          </a:p>
          <a:p xmlns:a="http://schemas.openxmlformats.org/drawingml/2006/main">
            <a:pPr algn="l">
              <a:lnSpc>
                <a:spcPct val="108000"/>
              </a:lnSpc>
              <a:buNone/>
              <a:defRPr sz="2550" b="0">
                <a:solidFill>
                  <a:srgbClr val="36D7C4"/>
                </a:solidFill>
                <a:latin typeface="Bahnschrift"/>
                <a:ea typeface="Bahnschrift"/>
                <a:cs typeface="Bahnschrift"/>
              </a:defRPr>
            </a:pPr>
            <a:r>
              <a:rPr sz="2550" b="0">
                <a:solidFill>
                  <a:srgbClr val="36D7C4"/>
                </a:solidFill>
                <a:latin typeface="Bahnschrift"/>
                <a:ea typeface="Bahnschrift"/>
                <a:cs typeface="Bahnschrift"/>
              </a:rPr>
              <a:t>el mantenimiento preventivo</a:t>
            </a:r>
          </a:p>
        </p:txBody>
      </p:sp>
      <p:sp>
        <p:nvSpPr>
          <p:cNvPr id="6" name="">
            <a:extLst xmlns:a="http://schemas.openxmlformats.org/drawingml/2006/main">
              <a:ext uri="{FF2B5EF4-FFF2-40B4-BE49-F238E27FC236}">
                <a16:creationId xmlns:a16="http://schemas.microsoft.com/office/drawing/2014/main" id="{E52B072D-706F-4DDB-B13D-982E99E77C0D}"/>
              </a:ext>
            </a:extLst>
          </p:cNvPr>
          <p:cNvSpPr>
            <a:spLocks xmlns:a="http://schemas.openxmlformats.org/drawingml/2006/main" noGrp="1"/>
          </p:cNvSpPr>
          <p:nvPr/>
        </p:nvSpPr>
        <p:spPr>
          <a:xfrm xmlns:a="http://schemas.openxmlformats.org/drawingml/2006/main">
            <a:off x="723900" y="323850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575" b="0">
                <a:solidFill>
                  <a:srgbClr val="B9B4CB"/>
                </a:solidFill>
                <a:latin typeface="Bahnschrift"/>
                <a:ea typeface="Bahnschrift"/>
                <a:cs typeface="Bahnschrift"/>
              </a:defRPr>
            </a:pPr>
            <a:r>
              <a:rPr sz="1575" b="0">
                <a:solidFill>
                  <a:srgbClr val="B9B4CB"/>
                </a:solidFill>
                <a:latin typeface="Bahnschrift"/>
                <a:ea typeface="Bahnschrift"/>
                <a:cs typeface="Bahnschrift"/>
              </a:rPr>
              <a:t>Una propuesta para estudiar si el software y la IA mejoran la rapidez, la precisión y la trazabilidad de las decisiones de mantenimiento.</a:t>
            </a:r>
          </a:p>
        </p:txBody>
      </p:sp>
      <p:sp>
        <p:nvSpPr>
          <p:cNvPr id="7" name="">
            <a:extLst xmlns:a="http://schemas.openxmlformats.org/drawingml/2006/main">
              <a:ext uri="{FF2B5EF4-FFF2-40B4-BE49-F238E27FC236}">
                <a16:creationId xmlns:a16="http://schemas.microsoft.com/office/drawing/2014/main" id="{BAD6D64D-2195-4FCC-8FE2-BEACC98CBEE7}"/>
              </a:ext>
            </a:extLst>
          </p:cNvPr>
          <p:cNvSpPr>
            <a:spLocks xmlns:a="http://schemas.openxmlformats.org/drawingml/2006/main" noGrp="1"/>
          </p:cNvSpPr>
          <p:nvPr/>
        </p:nvSpPr>
        <p:spPr>
          <a:xfrm xmlns:a="http://schemas.openxmlformats.org/drawingml/2006/main">
            <a:off x="723900" y="6048375"/>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9993AC"/>
                </a:solidFill>
                <a:latin typeface="Bahnschrift"/>
                <a:ea typeface="Bahnschrift"/>
                <a:cs typeface="Bahnschrift"/>
              </a:defRPr>
            </a:pPr>
            <a:r>
              <a:rPr sz="1125" b="0">
                <a:solidFill>
                  <a:srgbClr val="9993AC"/>
                </a:solidFill>
                <a:latin typeface="Bahnschrift"/>
                <a:ea typeface="Bahnschrift"/>
                <a:cs typeface="Bahnschrift"/>
              </a:rPr>
              <a:t>XIV Feria de Ciencia, Tecnología e Innovación USTA 2026</a:t>
            </a:r>
          </a:p>
        </p:txBody>
      </p:sp>
    </p:spTree>
    <p:extLst>
      <p:ext uri="{BB962C8B-B14F-4D97-AF65-F5344CB8AC3E}">
        <p14:creationId xmlns:p14="http://schemas.microsoft.com/office/powerpoint/2010/main" val="984500509"/>
      </p:ext>
    </p:extLst>
  </p:cSld>
</p:sld>
</file>

<file path=ppt/slides/slide2.xml><?xml version="1.0" encoding="utf-8"?>
<p:sld xmlns:p="http://schemas.openxmlformats.org/presentationml/2006/main">
  <p:cSld>
    <p:bg>
      <p:bgPr>
        <a:solidFill xmlns:a="http://schemas.openxmlformats.org/drawingml/2006/main">
          <a:srgbClr val="F8F7FF"/>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5dfa5f1d47946a5"/>
          <a:srcRect xmlns:a="http://schemas.openxmlformats.org/drawingml/2006/main" l="28582" t="0" r="28582" b="0"/>
          <a:stretch xmlns:a="http://schemas.openxmlformats.org/drawingml/2006/main">
            <a:fillRect l="0" t="0" r="0" b="0"/>
          </a:stretch>
        </p:blipFill>
        <p:spPr>
          <a:xfrm xmlns:a="http://schemas.openxmlformats.org/drawingml/2006/main">
            <a:off x="0" y="0"/>
            <a:ext cx="52197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90D9AD-809D-4D7E-9D90-452840E8094E}"/>
              </a:ext>
            </a:extLst>
          </p:cNvPr>
          <p:cNvSpPr>
            <a:spLocks xmlns:a="http://schemas.openxmlformats.org/drawingml/2006/main" noGrp="1"/>
          </p:cNvSpPr>
          <p:nvPr/>
        </p:nvSpPr>
        <p:spPr>
          <a:xfrm xmlns:a="http://schemas.openxmlformats.org/drawingml/2006/main">
            <a:off x="4667250" y="0"/>
            <a:ext cx="1143000" cy="6858000"/>
          </a:xfrm>
          <a:prstGeom xmlns:a="http://schemas.openxmlformats.org/drawingml/2006/main" prst="rect">
            <a:avLst/>
          </a:prstGeom>
          <a:gradFill xmlns:a="http://schemas.openxmlformats.org/drawingml/2006/main">
            <a:gsLst>
              <a:gs pos="0">
                <a:srgbClr val="F8F7FF">
                  <a:alpha val="0"/>
                </a:srgbClr>
              </a:gs>
              <a:gs pos="80000">
                <a:srgbClr val="F8F7FF"/>
              </a:gs>
              <a:gs pos="100000">
                <a:srgbClr val="F8F7FF"/>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E994660-1455-4E48-BA3B-F4C4DB1C2B90}"/>
              </a:ext>
            </a:extLst>
          </p:cNvPr>
          <p:cNvSpPr>
            <a:spLocks xmlns:a="http://schemas.openxmlformats.org/drawingml/2006/main" noGrp="1"/>
          </p:cNvSpPr>
          <p:nvPr/>
        </p:nvSpPr>
        <p:spPr>
          <a:xfrm xmlns:a="http://schemas.openxmlformats.org/drawingml/2006/main">
            <a:off x="666750" y="3238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7C5CFF"/>
                </a:solidFill>
                <a:latin typeface="Bahnschrift"/>
                <a:ea typeface="Bahnschrift"/>
                <a:cs typeface="Bahnschrift"/>
              </a:defRPr>
            </a:pPr>
            <a:r>
              <a:rPr sz="1125" b="1">
                <a:solidFill>
                  <a:srgbClr val="7C5CFF"/>
                </a:solidFill>
                <a:latin typeface="Bahnschrift"/>
                <a:ea typeface="Bahnschrift"/>
                <a:cs typeface="Bahnschrift"/>
              </a:rPr>
              <a:t>MANTIS IA</a:t>
            </a:r>
          </a:p>
        </p:txBody>
      </p:sp>
      <p:sp>
        <p:nvSpPr>
          <p:cNvPr id="4" name="">
            <a:extLst xmlns:a="http://schemas.openxmlformats.org/drawingml/2006/main">
              <a:ext uri="{FF2B5EF4-FFF2-40B4-BE49-F238E27FC236}">
                <a16:creationId xmlns:a16="http://schemas.microsoft.com/office/drawing/2014/main" id="{8828B91F-334A-463E-AAEC-D050DB5B5B5D}"/>
              </a:ext>
            </a:extLst>
          </p:cNvPr>
          <p:cNvSpPr>
            <a:spLocks xmlns:a="http://schemas.openxmlformats.org/drawingml/2006/main" noGrp="1"/>
          </p:cNvSpPr>
          <p:nvPr/>
        </p:nvSpPr>
        <p:spPr>
          <a:xfrm xmlns:a="http://schemas.openxmlformats.org/drawingml/2006/main">
            <a:off x="11001375" y="304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8A849A"/>
                </a:solidFill>
                <a:latin typeface="Bahnschrift"/>
                <a:ea typeface="Bahnschrift"/>
                <a:cs typeface="Bahnschrift"/>
              </a:defRPr>
            </a:pPr>
            <a:r>
              <a:rPr sz="1275" b="1">
                <a:solidFill>
                  <a:srgbClr val="8A849A"/>
                </a:solidFill>
                <a:latin typeface="Bahnschrift"/>
                <a:ea typeface="Bahnschrift"/>
                <a:cs typeface="Bahnschrift"/>
              </a:rPr>
              <a:t>02</a:t>
            </a:r>
          </a:p>
        </p:txBody>
      </p:sp>
      <p:sp>
        <p:nvSpPr>
          <p:cNvPr id="5" name="">
            <a:extLst xmlns:a="http://schemas.openxmlformats.org/drawingml/2006/main">
              <a:ext uri="{FF2B5EF4-FFF2-40B4-BE49-F238E27FC236}">
                <a16:creationId xmlns:a16="http://schemas.microsoft.com/office/drawing/2014/main" id="{2EB16C61-ED4D-4989-BAF8-CAF043F60F57}"/>
              </a:ext>
            </a:extLst>
          </p:cNvPr>
          <p:cNvSpPr>
            <a:spLocks xmlns:a="http://schemas.openxmlformats.org/drawingml/2006/main" noGrp="1"/>
          </p:cNvSpPr>
          <p:nvPr/>
        </p:nvSpPr>
        <p:spPr>
          <a:xfrm xmlns:a="http://schemas.openxmlformats.org/drawingml/2006/main">
            <a:off x="6000750" y="876300"/>
            <a:ext cx="5334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6125"/>
          </a:bodyPr>
          <a:lstStyle xmlns:a="http://schemas.openxmlformats.org/drawingml/2006/main"/>
          <a:p xmlns:a="http://schemas.openxmlformats.org/drawingml/2006/main">
            <a:pPr algn="l">
              <a:lnSpc>
                <a:spcPct val="98000"/>
              </a:lnSpc>
              <a:buNone/>
              <a:defRPr sz="3450" b="1">
                <a:solidFill>
                  <a:srgbClr val="17142E"/>
                </a:solidFill>
                <a:latin typeface="Bahnschrift"/>
                <a:ea typeface="Bahnschrift"/>
                <a:cs typeface="Bahnschrift"/>
              </a:defRPr>
            </a:pPr>
            <a:r>
              <a:rPr sz="3450" b="1">
                <a:solidFill>
                  <a:srgbClr val="17142E"/>
                </a:solidFill>
                <a:latin typeface="Bahnschrift"/>
                <a:ea typeface="Bahnschrift"/>
                <a:cs typeface="Bahnschrift"/>
              </a:rPr>
              <a:t>El problema que</a:t>
            </a:r>
          </a:p>
          <a:p xmlns:a="http://schemas.openxmlformats.org/drawingml/2006/main">
            <a:pPr algn="l">
              <a:lnSpc>
                <a:spcPct val="98000"/>
              </a:lnSpc>
              <a:buNone/>
              <a:defRPr sz="3450" b="1">
                <a:solidFill>
                  <a:srgbClr val="17142E"/>
                </a:solidFill>
                <a:latin typeface="Bahnschrift"/>
                <a:ea typeface="Bahnschrift"/>
                <a:cs typeface="Bahnschrift"/>
              </a:defRPr>
            </a:pPr>
            <a:r>
              <a:rPr sz="3450" b="1">
                <a:solidFill>
                  <a:srgbClr val="17142E"/>
                </a:solidFill>
                <a:latin typeface="Bahnschrift"/>
                <a:ea typeface="Bahnschrift"/>
                <a:cs typeface="Bahnschrift"/>
              </a:rPr>
              <a:t>queremos estudiar</a:t>
            </a:r>
          </a:p>
        </p:txBody>
      </p:sp>
      <p:sp>
        <p:nvSpPr>
          <p:cNvPr id="6" name="">
            <a:extLst xmlns:a="http://schemas.openxmlformats.org/drawingml/2006/main">
              <a:ext uri="{FF2B5EF4-FFF2-40B4-BE49-F238E27FC236}">
                <a16:creationId xmlns:a16="http://schemas.microsoft.com/office/drawing/2014/main" id="{6C6C7C34-063B-4059-9921-32E37494FEEF}"/>
              </a:ext>
            </a:extLst>
          </p:cNvPr>
          <p:cNvSpPr>
            <a:spLocks xmlns:a="http://schemas.openxmlformats.org/drawingml/2006/main" noGrp="1"/>
          </p:cNvSpPr>
          <p:nvPr/>
        </p:nvSpPr>
        <p:spPr>
          <a:xfrm xmlns:a="http://schemas.openxmlformats.org/drawingml/2006/main">
            <a:off x="6019800" y="2076450"/>
            <a:ext cx="742950" cy="47625"/>
          </a:xfrm>
          <a:prstGeom xmlns:a="http://schemas.openxmlformats.org/drawingml/2006/main" prst="rect">
            <a:avLst/>
          </a:prstGeom>
          <a:solidFill xmlns:a="http://schemas.openxmlformats.org/drawingml/2006/main">
            <a:srgbClr val="7C5CFF"/>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ED6FB6-459E-4A6A-B744-E7C3BDDD9660}"/>
              </a:ext>
            </a:extLst>
          </p:cNvPr>
          <p:cNvSpPr>
            <a:spLocks xmlns:a="http://schemas.openxmlformats.org/drawingml/2006/main" noGrp="1"/>
          </p:cNvSpPr>
          <p:nvPr/>
        </p:nvSpPr>
        <p:spPr>
          <a:xfrm xmlns:a="http://schemas.openxmlformats.org/drawingml/2006/main">
            <a:off x="6019800" y="23812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7C5CFF"/>
                </a:solidFill>
                <a:latin typeface="Bahnschrift"/>
                <a:ea typeface="Bahnschrift"/>
                <a:cs typeface="Bahnschrift"/>
              </a:defRPr>
            </a:pPr>
            <a:r>
              <a:rPr sz="1425" b="1">
                <a:solidFill>
                  <a:srgbClr val="7C5CFF"/>
                </a:solidFill>
                <a:latin typeface="Bahnschrift"/>
                <a:ea typeface="Bahnschrift"/>
                <a:cs typeface="Bahnschrift"/>
              </a:rPr>
              <a:t>Situación actual</a:t>
            </a:r>
          </a:p>
        </p:txBody>
      </p:sp>
      <p:sp>
        <p:nvSpPr>
          <p:cNvPr id="8" name="">
            <a:extLst xmlns:a="http://schemas.openxmlformats.org/drawingml/2006/main">
              <a:ext uri="{FF2B5EF4-FFF2-40B4-BE49-F238E27FC236}">
                <a16:creationId xmlns:a16="http://schemas.microsoft.com/office/drawing/2014/main" id="{CBF27E18-F51E-4FE9-95B4-8129ABA5808D}"/>
              </a:ext>
            </a:extLst>
          </p:cNvPr>
          <p:cNvSpPr>
            <a:spLocks xmlns:a="http://schemas.openxmlformats.org/drawingml/2006/main" noGrp="1"/>
          </p:cNvSpPr>
          <p:nvPr/>
        </p:nvSpPr>
        <p:spPr>
          <a:xfrm xmlns:a="http://schemas.openxmlformats.org/drawingml/2006/main">
            <a:off x="6019800" y="2724150"/>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7525"/>
          </a:bodyPr>
          <a:lstStyle xmlns:a="http://schemas.openxmlformats.org/drawingml/2006/main"/>
          <a:p xmlns:a="http://schemas.openxmlformats.org/drawingml/2006/main">
            <a:pPr algn="l">
              <a:lnSpc>
                <a:spcPct val="118000"/>
              </a:lnSpc>
              <a:buNone/>
              <a:defRPr sz="1575" b="0">
                <a:solidFill>
                  <a:srgbClr val="706A82"/>
                </a:solidFill>
                <a:latin typeface="Bahnschrift"/>
                <a:ea typeface="Bahnschrift"/>
                <a:cs typeface="Bahnschrift"/>
              </a:defRPr>
            </a:pPr>
            <a:r>
              <a:rPr sz="1575" b="0">
                <a:solidFill>
                  <a:srgbClr val="706A82"/>
                </a:solidFill>
                <a:latin typeface="Bahnschrift"/>
                <a:ea typeface="Bahnschrift"/>
                <a:cs typeface="Bahnschrift"/>
              </a:rPr>
              <a:t>La información puede quedar repartida entre formatos, archivos y la experiencia del operador. Consultarla, priorizar una tarea y documentar la decisión puede producir demoras u omisiones.</a:t>
            </a:r>
          </a:p>
        </p:txBody>
      </p:sp>
      <p:sp>
        <p:nvSpPr>
          <p:cNvPr id="9" name="">
            <a:extLst xmlns:a="http://schemas.openxmlformats.org/drawingml/2006/main">
              <a:ext uri="{FF2B5EF4-FFF2-40B4-BE49-F238E27FC236}">
                <a16:creationId xmlns:a16="http://schemas.microsoft.com/office/drawing/2014/main" id="{3479CAD3-965D-4B95-BF5E-B60AC8B2510B}"/>
              </a:ext>
            </a:extLst>
          </p:cNvPr>
          <p:cNvSpPr>
            <a:spLocks xmlns:a="http://schemas.openxmlformats.org/drawingml/2006/main" noGrp="1"/>
          </p:cNvSpPr>
          <p:nvPr/>
        </p:nvSpPr>
        <p:spPr>
          <a:xfrm xmlns:a="http://schemas.openxmlformats.org/drawingml/2006/main">
            <a:off x="6019800" y="414337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425" b="1">
                <a:solidFill>
                  <a:srgbClr val="168C80"/>
                </a:solidFill>
                <a:latin typeface="Bahnschrift"/>
                <a:ea typeface="Bahnschrift"/>
                <a:cs typeface="Bahnschrift"/>
              </a:defRPr>
            </a:pPr>
            <a:r>
              <a:rPr sz="1425" b="1">
                <a:solidFill>
                  <a:srgbClr val="168C80"/>
                </a:solidFill>
                <a:latin typeface="Bahnschrift"/>
                <a:ea typeface="Bahnschrift"/>
                <a:cs typeface="Bahnschrift"/>
              </a:rPr>
              <a:t>Propuesta de Mantis IA</a:t>
            </a:r>
          </a:p>
        </p:txBody>
      </p:sp>
      <p:sp>
        <p:nvSpPr>
          <p:cNvPr id="10" name="">
            <a:extLst xmlns:a="http://schemas.openxmlformats.org/drawingml/2006/main">
              <a:ext uri="{FF2B5EF4-FFF2-40B4-BE49-F238E27FC236}">
                <a16:creationId xmlns:a16="http://schemas.microsoft.com/office/drawing/2014/main" id="{6647AC31-4CF0-4CCF-9ED8-8B3B7419D4A6}"/>
              </a:ext>
            </a:extLst>
          </p:cNvPr>
          <p:cNvSpPr>
            <a:spLocks xmlns:a="http://schemas.openxmlformats.org/drawingml/2006/main" noGrp="1"/>
          </p:cNvSpPr>
          <p:nvPr/>
        </p:nvSpPr>
        <p:spPr>
          <a:xfrm xmlns:a="http://schemas.openxmlformats.org/drawingml/2006/main">
            <a:off x="6019800" y="4505325"/>
            <a:ext cx="4953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8000"/>
              </a:lnSpc>
              <a:buNone/>
              <a:defRPr sz="1575" b="0">
                <a:solidFill>
                  <a:srgbClr val="17142E"/>
                </a:solidFill>
                <a:latin typeface="Bahnschrift"/>
                <a:ea typeface="Bahnschrift"/>
                <a:cs typeface="Bahnschrift"/>
              </a:defRPr>
            </a:pPr>
            <a:r>
              <a:rPr sz="1575" b="0">
                <a:solidFill>
                  <a:srgbClr val="17142E"/>
                </a:solidFill>
                <a:latin typeface="Bahnschrift"/>
                <a:ea typeface="Bahnschrift"/>
                <a:cs typeface="Bahnschrift"/>
              </a:rPr>
              <a:t>Reunir el historial y las horas de uso, calcular alertas mediante reglas y ayudar a interpretar la información con fuentes verificables.</a:t>
            </a:r>
          </a:p>
        </p:txBody>
      </p:sp>
      <p:sp>
        <p:nvSpPr>
          <p:cNvPr id="11" name="">
            <a:extLst xmlns:a="http://schemas.openxmlformats.org/drawingml/2006/main">
              <a:ext uri="{FF2B5EF4-FFF2-40B4-BE49-F238E27FC236}">
                <a16:creationId xmlns:a16="http://schemas.microsoft.com/office/drawing/2014/main" id="{981C1ACD-3723-4476-9075-9D56786FDEEC}"/>
              </a:ext>
            </a:extLst>
          </p:cNvPr>
          <p:cNvSpPr>
            <a:spLocks xmlns:a="http://schemas.openxmlformats.org/drawingml/2006/main" noGrp="1"/>
          </p:cNvSpPr>
          <p:nvPr/>
        </p:nvSpPr>
        <p:spPr>
          <a:xfrm xmlns:a="http://schemas.openxmlformats.org/drawingml/2006/main">
            <a:off x="6019800" y="5715000"/>
            <a:ext cx="4953000" cy="19050"/>
          </a:xfrm>
          <a:prstGeom xmlns:a="http://schemas.openxmlformats.org/drawingml/2006/main" prst="rect">
            <a:avLst/>
          </a:prstGeom>
          <a:solidFill xmlns:a="http://schemas.openxmlformats.org/drawingml/2006/main">
            <a:srgbClr val="DDD8E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8B980AD-85B9-46F2-A740-B18DFDC29159}"/>
              </a:ext>
            </a:extLst>
          </p:cNvPr>
          <p:cNvSpPr>
            <a:spLocks xmlns:a="http://schemas.openxmlformats.org/drawingml/2006/main" noGrp="1"/>
          </p:cNvSpPr>
          <p:nvPr/>
        </p:nvSpPr>
        <p:spPr>
          <a:xfrm xmlns:a="http://schemas.openxmlformats.org/drawingml/2006/main">
            <a:off x="6019800" y="590550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17142E"/>
                </a:solidFill>
                <a:latin typeface="Bahnschrift"/>
                <a:ea typeface="Bahnschrift"/>
                <a:cs typeface="Bahnschrift"/>
              </a:defRPr>
            </a:pPr>
            <a:r>
              <a:rPr sz="1350" b="1">
                <a:solidFill>
                  <a:srgbClr val="17142E"/>
                </a:solidFill>
                <a:latin typeface="Bahnschrift"/>
                <a:ea typeface="Bahnschrift"/>
                <a:cs typeface="Bahnschrift"/>
              </a:rPr>
              <a:t>La decisión final permanece en manos del técnico.</a:t>
            </a:r>
          </a:p>
        </p:txBody>
      </p:sp>
    </p:spTree>
    <p:extLst>
      <p:ext uri="{BB962C8B-B14F-4D97-AF65-F5344CB8AC3E}">
        <p14:creationId xmlns:p14="http://schemas.microsoft.com/office/powerpoint/2010/main" val="616559639"/>
      </p:ext>
    </p:extLst>
  </p:cSld>
</p:sld>
</file>

<file path=ppt/slides/slide3.xml><?xml version="1.0" encoding="utf-8"?>
<p:sld xmlns:p="http://schemas.openxmlformats.org/presentationml/2006/main">
  <p:cSld>
    <p:bg>
      <p:bgPr>
        <a:solidFill xmlns:a="http://schemas.openxmlformats.org/drawingml/2006/main">
          <a:srgbClr val="0C0B20"/>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CA7E9001-2596-4D7A-877A-D398FC6A333B}"/>
              </a:ext>
            </a:extLst>
          </p:cNvPr>
          <p:cNvSpPr>
            <a:spLocks xmlns:a="http://schemas.openxmlformats.org/drawingml/2006/main" noGrp="1"/>
          </p:cNvSpPr>
          <p:nvPr/>
        </p:nvSpPr>
        <p:spPr>
          <a:xfrm xmlns:a="http://schemas.openxmlformats.org/drawingml/2006/main">
            <a:off x="666750" y="3238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D9FF5B"/>
                </a:solidFill>
                <a:latin typeface="Bahnschrift"/>
                <a:ea typeface="Bahnschrift"/>
                <a:cs typeface="Bahnschrift"/>
              </a:defRPr>
            </a:pPr>
            <a:r>
              <a:rPr sz="1125" b="1">
                <a:solidFill>
                  <a:srgbClr val="D9FF5B"/>
                </a:solidFill>
                <a:latin typeface="Bahnschrift"/>
                <a:ea typeface="Bahnschrift"/>
                <a:cs typeface="Bahnschrift"/>
              </a:rPr>
              <a:t>MANTIS IA</a:t>
            </a:r>
          </a:p>
        </p:txBody>
      </p:sp>
      <p:sp>
        <p:nvSpPr>
          <p:cNvPr id="2" name="">
            <a:extLst xmlns:a="http://schemas.openxmlformats.org/drawingml/2006/main">
              <a:ext uri="{FF2B5EF4-FFF2-40B4-BE49-F238E27FC236}">
                <a16:creationId xmlns:a16="http://schemas.microsoft.com/office/drawing/2014/main" id="{A71A317C-0391-4271-9440-784BF2D37D8C}"/>
              </a:ext>
            </a:extLst>
          </p:cNvPr>
          <p:cNvSpPr>
            <a:spLocks xmlns:a="http://schemas.openxmlformats.org/drawingml/2006/main" noGrp="1"/>
          </p:cNvSpPr>
          <p:nvPr/>
        </p:nvSpPr>
        <p:spPr>
          <a:xfrm xmlns:a="http://schemas.openxmlformats.org/drawingml/2006/main">
            <a:off x="11001375" y="304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8E88A6"/>
                </a:solidFill>
                <a:latin typeface="Bahnschrift"/>
                <a:ea typeface="Bahnschrift"/>
                <a:cs typeface="Bahnschrift"/>
              </a:defRPr>
            </a:pPr>
            <a:r>
              <a:rPr sz="1275" b="1">
                <a:solidFill>
                  <a:srgbClr val="8E88A6"/>
                </a:solidFill>
                <a:latin typeface="Bahnschrift"/>
                <a:ea typeface="Bahnschrift"/>
                <a:cs typeface="Bahnschrift"/>
              </a:rPr>
              <a:t>03</a:t>
            </a:r>
          </a:p>
        </p:txBody>
      </p:sp>
      <p:sp>
        <p:nvSpPr>
          <p:cNvPr id="3" name="">
            <a:extLst xmlns:a="http://schemas.openxmlformats.org/drawingml/2006/main">
              <a:ext uri="{FF2B5EF4-FFF2-40B4-BE49-F238E27FC236}">
                <a16:creationId xmlns:a16="http://schemas.microsoft.com/office/drawing/2014/main" id="{9718FC4D-42A1-45EC-B7A1-6D7CAF4F872B}"/>
              </a:ext>
            </a:extLst>
          </p:cNvPr>
          <p:cNvSpPr>
            <a:spLocks xmlns:a="http://schemas.openxmlformats.org/drawingml/2006/main" noGrp="1"/>
          </p:cNvSpPr>
          <p:nvPr/>
        </p:nvSpPr>
        <p:spPr>
          <a:xfrm xmlns:a="http://schemas.openxmlformats.org/drawingml/2006/main">
            <a:off x="666750" y="800100"/>
            <a:ext cx="8096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450" b="1">
                <a:solidFill>
                  <a:srgbClr val="FFFFFF"/>
                </a:solidFill>
                <a:latin typeface="Bahnschrift"/>
                <a:ea typeface="Bahnschrift"/>
                <a:cs typeface="Bahnschrift"/>
              </a:defRPr>
            </a:pPr>
            <a:r>
              <a:rPr sz="3450" b="1">
                <a:solidFill>
                  <a:srgbClr val="FFFFFF"/>
                </a:solidFill>
                <a:latin typeface="Bahnschrift"/>
                <a:ea typeface="Bahnschrift"/>
                <a:cs typeface="Bahnschrift"/>
              </a:rPr>
              <a:t>Comparación experimental</a:t>
            </a:r>
          </a:p>
        </p:txBody>
      </p:sp>
      <p:sp>
        <p:nvSpPr>
          <p:cNvPr id="4" name="">
            <a:extLst xmlns:a="http://schemas.openxmlformats.org/drawingml/2006/main">
              <a:ext uri="{FF2B5EF4-FFF2-40B4-BE49-F238E27FC236}">
                <a16:creationId xmlns:a16="http://schemas.microsoft.com/office/drawing/2014/main" id="{42D89C1C-7D9B-4796-89EF-7A47AAFB79F3}"/>
              </a:ext>
            </a:extLst>
          </p:cNvPr>
          <p:cNvSpPr>
            <a:spLocks xmlns:a="http://schemas.openxmlformats.org/drawingml/2006/main" noGrp="1"/>
          </p:cNvSpPr>
          <p:nvPr/>
        </p:nvSpPr>
        <p:spPr>
          <a:xfrm xmlns:a="http://schemas.openxmlformats.org/drawingml/2006/main">
            <a:off x="685800" y="1457325"/>
            <a:ext cx="638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75" b="0">
                <a:solidFill>
                  <a:srgbClr val="B9B4CB"/>
                </a:solidFill>
                <a:latin typeface="Bahnschrift"/>
                <a:ea typeface="Bahnschrift"/>
                <a:cs typeface="Bahnschrift"/>
              </a:defRPr>
            </a:pPr>
            <a:r>
              <a:rPr sz="1575" b="0">
                <a:solidFill>
                  <a:srgbClr val="B9B4CB"/>
                </a:solidFill>
                <a:latin typeface="Bahnschrift"/>
                <a:ea typeface="Bahnschrift"/>
                <a:cs typeface="Bahnschrift"/>
              </a:rPr>
              <a:t>Mismo tipo de caso y mismos datos disponibles</a:t>
            </a:r>
          </a:p>
        </p:txBody>
      </p:sp>
      <p:sp>
        <p:nvSpPr>
          <p:cNvPr id="5" name="">
            <a:extLst xmlns:a="http://schemas.openxmlformats.org/drawingml/2006/main">
              <a:ext uri="{FF2B5EF4-FFF2-40B4-BE49-F238E27FC236}">
                <a16:creationId xmlns:a16="http://schemas.microsoft.com/office/drawing/2014/main" id="{863AC66E-8EA9-41CA-8335-C52DC1AC8ED6}"/>
              </a:ext>
            </a:extLst>
          </p:cNvPr>
          <p:cNvSpPr>
            <a:spLocks xmlns:a="http://schemas.openxmlformats.org/drawingml/2006/main" noGrp="1"/>
          </p:cNvSpPr>
          <p:nvPr/>
        </p:nvSpPr>
        <p:spPr>
          <a:xfrm xmlns:a="http://schemas.openxmlformats.org/drawingml/2006/main">
            <a:off x="1333500" y="2876550"/>
            <a:ext cx="9715500" cy="28575"/>
          </a:xfrm>
          <a:prstGeom xmlns:a="http://schemas.openxmlformats.org/drawingml/2006/main" prst="rect">
            <a:avLst/>
          </a:prstGeom>
          <a:solidFill xmlns:a="http://schemas.openxmlformats.org/drawingml/2006/main">
            <a:srgbClr val="393253"/>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9E8BB34-29AB-4FCB-A95B-DE562581DAC9}"/>
              </a:ext>
            </a:extLst>
          </p:cNvPr>
          <p:cNvSpPr>
            <a:spLocks xmlns:a="http://schemas.openxmlformats.org/drawingml/2006/main" noGrp="1"/>
          </p:cNvSpPr>
          <p:nvPr/>
        </p:nvSpPr>
        <p:spPr>
          <a:xfrm xmlns:a="http://schemas.openxmlformats.org/drawingml/2006/main">
            <a:off x="685800" y="2362200"/>
            <a:ext cx="838200" cy="838200"/>
          </a:xfrm>
          <a:prstGeom xmlns:a="http://schemas.openxmlformats.org/drawingml/2006/main" prst="ellipse">
            <a:avLst/>
          </a:prstGeom>
          <a:solidFill xmlns:a="http://schemas.openxmlformats.org/drawingml/2006/main">
            <a:srgbClr val="FF637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229F31C-5699-4D0E-9642-CDD35E736ADB}"/>
              </a:ext>
            </a:extLst>
          </p:cNvPr>
          <p:cNvSpPr>
            <a:spLocks xmlns:a="http://schemas.openxmlformats.org/drawingml/2006/main" noGrp="1"/>
          </p:cNvSpPr>
          <p:nvPr/>
        </p:nvSpPr>
        <p:spPr>
          <a:xfrm xmlns:a="http://schemas.openxmlformats.org/drawingml/2006/main">
            <a:off x="685800" y="247650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925" b="1">
                <a:solidFill>
                  <a:srgbClr val="0C0B20"/>
                </a:solidFill>
                <a:latin typeface="Bahnschrift"/>
                <a:ea typeface="Bahnschrift"/>
                <a:cs typeface="Bahnschrift"/>
              </a:defRPr>
            </a:pPr>
            <a:r>
              <a:rPr sz="2925" b="1">
                <a:solidFill>
                  <a:srgbClr val="0C0B20"/>
                </a:solidFill>
                <a:latin typeface="Bahnschrift"/>
                <a:ea typeface="Bahnschrift"/>
                <a:cs typeface="Bahnschrift"/>
              </a:rPr>
              <a:t>A</a:t>
            </a:r>
          </a:p>
        </p:txBody>
      </p:sp>
      <p:sp>
        <p:nvSpPr>
          <p:cNvPr id="8" name="">
            <a:extLst xmlns:a="http://schemas.openxmlformats.org/drawingml/2006/main">
              <a:ext uri="{FF2B5EF4-FFF2-40B4-BE49-F238E27FC236}">
                <a16:creationId xmlns:a16="http://schemas.microsoft.com/office/drawing/2014/main" id="{B433B6C2-DAA8-41B5-BF3B-DDB78C72E9D1}"/>
              </a:ext>
            </a:extLst>
          </p:cNvPr>
          <p:cNvSpPr>
            <a:spLocks xmlns:a="http://schemas.openxmlformats.org/drawingml/2006/main" noGrp="1"/>
          </p:cNvSpPr>
          <p:nvPr/>
        </p:nvSpPr>
        <p:spPr>
          <a:xfrm xmlns:a="http://schemas.openxmlformats.org/drawingml/2006/main">
            <a:off x="685800" y="3467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FFFFFF"/>
                </a:solidFill>
                <a:latin typeface="Bahnschrift"/>
                <a:ea typeface="Bahnschrift"/>
                <a:cs typeface="Bahnschrift"/>
              </a:defRPr>
            </a:pPr>
            <a:r>
              <a:rPr sz="2250" b="1">
                <a:solidFill>
                  <a:srgbClr val="FFFFFF"/>
                </a:solidFill>
                <a:latin typeface="Bahnschrift"/>
                <a:ea typeface="Bahnschrift"/>
                <a:cs typeface="Bahnschrift"/>
              </a:rPr>
              <a:t>Manual</a:t>
            </a:r>
          </a:p>
        </p:txBody>
      </p:sp>
      <p:sp>
        <p:nvSpPr>
          <p:cNvPr id="9" name="">
            <a:extLst xmlns:a="http://schemas.openxmlformats.org/drawingml/2006/main">
              <a:ext uri="{FF2B5EF4-FFF2-40B4-BE49-F238E27FC236}">
                <a16:creationId xmlns:a16="http://schemas.microsoft.com/office/drawing/2014/main" id="{C9080529-599B-4202-BEE1-A5838BF1FBFB}"/>
              </a:ext>
            </a:extLst>
          </p:cNvPr>
          <p:cNvSpPr>
            <a:spLocks xmlns:a="http://schemas.openxmlformats.org/drawingml/2006/main" noGrp="1"/>
          </p:cNvSpPr>
          <p:nvPr/>
        </p:nvSpPr>
        <p:spPr>
          <a:xfrm xmlns:a="http://schemas.openxmlformats.org/drawingml/2006/main">
            <a:off x="685800" y="39433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0">
                <a:solidFill>
                  <a:srgbClr val="B9B4CB"/>
                </a:solidFill>
                <a:latin typeface="Bahnschrift"/>
                <a:ea typeface="Bahnschrift"/>
                <a:cs typeface="Bahnschrift"/>
              </a:defRPr>
            </a:pPr>
            <a:r>
              <a:rPr sz="1500" b="0">
                <a:solidFill>
                  <a:srgbClr val="B9B4CB"/>
                </a:solidFill>
                <a:latin typeface="Bahnschrift"/>
                <a:ea typeface="Bahnschrift"/>
                <a:cs typeface="Bahnschrift"/>
              </a:rPr>
              <a:t>Formatos, historial</a:t>
            </a:r>
          </a:p>
          <a:p xmlns:a="http://schemas.openxmlformats.org/drawingml/2006/main">
            <a:pPr algn="l">
              <a:lnSpc>
                <a:spcPct val="116000"/>
              </a:lnSpc>
              <a:buNone/>
              <a:defRPr sz="1500" b="0">
                <a:solidFill>
                  <a:srgbClr val="B9B4CB"/>
                </a:solidFill>
                <a:latin typeface="Bahnschrift"/>
                <a:ea typeface="Bahnschrift"/>
                <a:cs typeface="Bahnschrift"/>
              </a:defRPr>
            </a:pPr>
            <a:r>
              <a:rPr sz="1500" b="0">
                <a:solidFill>
                  <a:srgbClr val="B9B4CB"/>
                </a:solidFill>
                <a:latin typeface="Bahnschrift"/>
                <a:ea typeface="Bahnschrift"/>
                <a:cs typeface="Bahnschrift"/>
              </a:rPr>
              <a:t>y manual técnico</a:t>
            </a:r>
          </a:p>
        </p:txBody>
      </p:sp>
      <p:sp>
        <p:nvSpPr>
          <p:cNvPr id="10" name="">
            <a:extLst xmlns:a="http://schemas.openxmlformats.org/drawingml/2006/main">
              <a:ext uri="{FF2B5EF4-FFF2-40B4-BE49-F238E27FC236}">
                <a16:creationId xmlns:a16="http://schemas.microsoft.com/office/drawing/2014/main" id="{7246CFE8-373E-429E-B2F2-F9D410134491}"/>
              </a:ext>
            </a:extLst>
          </p:cNvPr>
          <p:cNvSpPr>
            <a:spLocks xmlns:a="http://schemas.openxmlformats.org/drawingml/2006/main" noGrp="1"/>
          </p:cNvSpPr>
          <p:nvPr/>
        </p:nvSpPr>
        <p:spPr>
          <a:xfrm xmlns:a="http://schemas.openxmlformats.org/drawingml/2006/main">
            <a:off x="4305300" y="2362200"/>
            <a:ext cx="838200" cy="838200"/>
          </a:xfrm>
          <a:prstGeom xmlns:a="http://schemas.openxmlformats.org/drawingml/2006/main" prst="ellipse">
            <a:avLst/>
          </a:prstGeom>
          <a:solidFill xmlns:a="http://schemas.openxmlformats.org/drawingml/2006/main">
            <a:srgbClr val="36D7C4"/>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82922694-1286-479C-8C8F-0292762A975C}"/>
              </a:ext>
            </a:extLst>
          </p:cNvPr>
          <p:cNvSpPr>
            <a:spLocks xmlns:a="http://schemas.openxmlformats.org/drawingml/2006/main" noGrp="1"/>
          </p:cNvSpPr>
          <p:nvPr/>
        </p:nvSpPr>
        <p:spPr>
          <a:xfrm xmlns:a="http://schemas.openxmlformats.org/drawingml/2006/main">
            <a:off x="4305300" y="247650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925" b="1">
                <a:solidFill>
                  <a:srgbClr val="0C0B20"/>
                </a:solidFill>
                <a:latin typeface="Bahnschrift"/>
                <a:ea typeface="Bahnschrift"/>
                <a:cs typeface="Bahnschrift"/>
              </a:defRPr>
            </a:pPr>
            <a:r>
              <a:rPr sz="2925" b="1">
                <a:solidFill>
                  <a:srgbClr val="0C0B20"/>
                </a:solidFill>
                <a:latin typeface="Bahnschrift"/>
                <a:ea typeface="Bahnschrift"/>
                <a:cs typeface="Bahnschrift"/>
              </a:rPr>
              <a:t>B</a:t>
            </a:r>
          </a:p>
        </p:txBody>
      </p:sp>
      <p:sp>
        <p:nvSpPr>
          <p:cNvPr id="12" name="">
            <a:extLst xmlns:a="http://schemas.openxmlformats.org/drawingml/2006/main">
              <a:ext uri="{FF2B5EF4-FFF2-40B4-BE49-F238E27FC236}">
                <a16:creationId xmlns:a16="http://schemas.microsoft.com/office/drawing/2014/main" id="{EE18149D-92D4-4775-987B-DF75BC69FB10}"/>
              </a:ext>
            </a:extLst>
          </p:cNvPr>
          <p:cNvSpPr>
            <a:spLocks xmlns:a="http://schemas.openxmlformats.org/drawingml/2006/main" noGrp="1"/>
          </p:cNvSpPr>
          <p:nvPr/>
        </p:nvSpPr>
        <p:spPr>
          <a:xfrm xmlns:a="http://schemas.openxmlformats.org/drawingml/2006/main">
            <a:off x="4305300" y="3467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250" b="1">
                <a:solidFill>
                  <a:srgbClr val="FFFFFF"/>
                </a:solidFill>
                <a:latin typeface="Bahnschrift"/>
                <a:ea typeface="Bahnschrift"/>
                <a:cs typeface="Bahnschrift"/>
              </a:defRPr>
            </a:pPr>
            <a:r>
              <a:rPr sz="2250" b="1">
                <a:solidFill>
                  <a:srgbClr val="FFFFFF"/>
                </a:solidFill>
                <a:latin typeface="Bahnschrift"/>
                <a:ea typeface="Bahnschrift"/>
                <a:cs typeface="Bahnschrift"/>
              </a:rPr>
              <a:t>Software</a:t>
            </a:r>
          </a:p>
        </p:txBody>
      </p:sp>
      <p:sp>
        <p:nvSpPr>
          <p:cNvPr id="13" name="">
            <a:extLst xmlns:a="http://schemas.openxmlformats.org/drawingml/2006/main">
              <a:ext uri="{FF2B5EF4-FFF2-40B4-BE49-F238E27FC236}">
                <a16:creationId xmlns:a16="http://schemas.microsoft.com/office/drawing/2014/main" id="{6D4E82DB-F1D3-4044-8978-1BBF48FA0092}"/>
              </a:ext>
            </a:extLst>
          </p:cNvPr>
          <p:cNvSpPr>
            <a:spLocks xmlns:a="http://schemas.openxmlformats.org/drawingml/2006/main" noGrp="1"/>
          </p:cNvSpPr>
          <p:nvPr/>
        </p:nvSpPr>
        <p:spPr>
          <a:xfrm xmlns:a="http://schemas.openxmlformats.org/drawingml/2006/main">
            <a:off x="4305300" y="39433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0">
                <a:solidFill>
                  <a:srgbClr val="B9B4CB"/>
                </a:solidFill>
                <a:latin typeface="Bahnschrift"/>
                <a:ea typeface="Bahnschrift"/>
                <a:cs typeface="Bahnschrift"/>
              </a:defRPr>
            </a:pPr>
            <a:r>
              <a:rPr sz="1500" b="0">
                <a:solidFill>
                  <a:srgbClr val="B9B4CB"/>
                </a:solidFill>
                <a:latin typeface="Bahnschrift"/>
                <a:ea typeface="Bahnschrift"/>
                <a:cs typeface="Bahnschrift"/>
              </a:rPr>
              <a:t>Datos centralizados</a:t>
            </a:r>
          </a:p>
          <a:p xmlns:a="http://schemas.openxmlformats.org/drawingml/2006/main">
            <a:pPr algn="l">
              <a:lnSpc>
                <a:spcPct val="116000"/>
              </a:lnSpc>
              <a:buNone/>
              <a:defRPr sz="1500" b="0">
                <a:solidFill>
                  <a:srgbClr val="B9B4CB"/>
                </a:solidFill>
                <a:latin typeface="Bahnschrift"/>
                <a:ea typeface="Bahnschrift"/>
                <a:cs typeface="Bahnschrift"/>
              </a:defRPr>
            </a:pPr>
            <a:r>
              <a:rPr sz="1500" b="0">
                <a:solidFill>
                  <a:srgbClr val="B9B4CB"/>
                </a:solidFill>
                <a:latin typeface="Bahnschrift"/>
                <a:ea typeface="Bahnschrift"/>
                <a:cs typeface="Bahnschrift"/>
              </a:rPr>
              <a:t>y reglas automáticas</a:t>
            </a:r>
          </a:p>
        </p:txBody>
      </p:sp>
      <p:sp>
        <p:nvSpPr>
          <p:cNvPr id="14" name="">
            <a:extLst xmlns:a="http://schemas.openxmlformats.org/drawingml/2006/main">
              <a:ext uri="{FF2B5EF4-FFF2-40B4-BE49-F238E27FC236}">
                <a16:creationId xmlns:a16="http://schemas.microsoft.com/office/drawing/2014/main" id="{C2FA658E-2CA8-4ED9-B77E-501109052622}"/>
              </a:ext>
            </a:extLst>
          </p:cNvPr>
          <p:cNvSpPr>
            <a:spLocks xmlns:a="http://schemas.openxmlformats.org/drawingml/2006/main" noGrp="1"/>
          </p:cNvSpPr>
          <p:nvPr/>
        </p:nvSpPr>
        <p:spPr>
          <a:xfrm xmlns:a="http://schemas.openxmlformats.org/drawingml/2006/main">
            <a:off x="7924800" y="2362200"/>
            <a:ext cx="838200" cy="838200"/>
          </a:xfrm>
          <a:prstGeom xmlns:a="http://schemas.openxmlformats.org/drawingml/2006/main" prst="ellipse">
            <a:avLst/>
          </a:prstGeom>
          <a:solidFill xmlns:a="http://schemas.openxmlformats.org/drawingml/2006/main">
            <a:srgbClr val="D9FF5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FB88E22-C877-45FA-9611-DE1FD94AC8E8}"/>
              </a:ext>
            </a:extLst>
          </p:cNvPr>
          <p:cNvSpPr>
            <a:spLocks xmlns:a="http://schemas.openxmlformats.org/drawingml/2006/main" noGrp="1"/>
          </p:cNvSpPr>
          <p:nvPr/>
        </p:nvSpPr>
        <p:spPr>
          <a:xfrm xmlns:a="http://schemas.openxmlformats.org/drawingml/2006/main">
            <a:off x="7924800" y="2476500"/>
            <a:ext cx="838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2925" b="1">
                <a:solidFill>
                  <a:srgbClr val="0C0B20"/>
                </a:solidFill>
                <a:latin typeface="Bahnschrift"/>
                <a:ea typeface="Bahnschrift"/>
                <a:cs typeface="Bahnschrift"/>
              </a:defRPr>
            </a:pPr>
            <a:r>
              <a:rPr sz="2925" b="1">
                <a:solidFill>
                  <a:srgbClr val="0C0B20"/>
                </a:solidFill>
                <a:latin typeface="Bahnschrift"/>
                <a:ea typeface="Bahnschrift"/>
                <a:cs typeface="Bahnschrift"/>
              </a:rPr>
              <a:t>C</a:t>
            </a:r>
          </a:p>
        </p:txBody>
      </p:sp>
      <p:sp>
        <p:nvSpPr>
          <p:cNvPr id="16" name="">
            <a:extLst xmlns:a="http://schemas.openxmlformats.org/drawingml/2006/main">
              <a:ext uri="{FF2B5EF4-FFF2-40B4-BE49-F238E27FC236}">
                <a16:creationId xmlns:a16="http://schemas.microsoft.com/office/drawing/2014/main" id="{605EA7F7-B0E2-4042-BB2E-BF6E5CCA1B97}"/>
              </a:ext>
            </a:extLst>
          </p:cNvPr>
          <p:cNvSpPr>
            <a:spLocks xmlns:a="http://schemas.openxmlformats.org/drawingml/2006/main" noGrp="1"/>
          </p:cNvSpPr>
          <p:nvPr/>
        </p:nvSpPr>
        <p:spPr>
          <a:xfrm xmlns:a="http://schemas.openxmlformats.org/drawingml/2006/main">
            <a:off x="7924800" y="34671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950" b="1">
                <a:solidFill>
                  <a:srgbClr val="FFFFFF"/>
                </a:solidFill>
                <a:latin typeface="Bahnschrift"/>
                <a:ea typeface="Bahnschrift"/>
                <a:cs typeface="Bahnschrift"/>
              </a:defRPr>
            </a:pPr>
            <a:r>
              <a:rPr sz="1950" b="1">
                <a:solidFill>
                  <a:srgbClr val="FFFFFF"/>
                </a:solidFill>
                <a:latin typeface="Bahnschrift"/>
                <a:ea typeface="Bahnschrift"/>
                <a:cs typeface="Bahnschrift"/>
              </a:rPr>
              <a:t>Software con IA</a:t>
            </a:r>
          </a:p>
        </p:txBody>
      </p:sp>
      <p:sp>
        <p:nvSpPr>
          <p:cNvPr id="17" name="">
            <a:extLst xmlns:a="http://schemas.openxmlformats.org/drawingml/2006/main">
              <a:ext uri="{FF2B5EF4-FFF2-40B4-BE49-F238E27FC236}">
                <a16:creationId xmlns:a16="http://schemas.microsoft.com/office/drawing/2014/main" id="{FC5921A6-EBAD-49D1-976C-9D54390D33E5}"/>
              </a:ext>
            </a:extLst>
          </p:cNvPr>
          <p:cNvSpPr>
            <a:spLocks xmlns:a="http://schemas.openxmlformats.org/drawingml/2006/main" noGrp="1"/>
          </p:cNvSpPr>
          <p:nvPr/>
        </p:nvSpPr>
        <p:spPr>
          <a:xfrm xmlns:a="http://schemas.openxmlformats.org/drawingml/2006/main">
            <a:off x="7924800" y="3943350"/>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500" b="0">
                <a:solidFill>
                  <a:srgbClr val="B9B4CB"/>
                </a:solidFill>
                <a:latin typeface="Bahnschrift"/>
                <a:ea typeface="Bahnschrift"/>
                <a:cs typeface="Bahnschrift"/>
              </a:defRPr>
            </a:pPr>
            <a:r>
              <a:rPr sz="1500" b="0">
                <a:solidFill>
                  <a:srgbClr val="B9B4CB"/>
                </a:solidFill>
                <a:latin typeface="Bahnschrift"/>
                <a:ea typeface="Bahnschrift"/>
                <a:cs typeface="Bahnschrift"/>
              </a:rPr>
              <a:t>Interpretación asistida</a:t>
            </a:r>
          </a:p>
          <a:p xmlns:a="http://schemas.openxmlformats.org/drawingml/2006/main">
            <a:pPr algn="l">
              <a:lnSpc>
                <a:spcPct val="116000"/>
              </a:lnSpc>
              <a:buNone/>
              <a:defRPr sz="1500" b="0">
                <a:solidFill>
                  <a:srgbClr val="B9B4CB"/>
                </a:solidFill>
                <a:latin typeface="Bahnschrift"/>
                <a:ea typeface="Bahnschrift"/>
                <a:cs typeface="Bahnschrift"/>
              </a:defRPr>
            </a:pPr>
            <a:r>
              <a:rPr sz="1500" b="0">
                <a:solidFill>
                  <a:srgbClr val="B9B4CB"/>
                </a:solidFill>
                <a:latin typeface="Bahnschrift"/>
                <a:ea typeface="Bahnschrift"/>
                <a:cs typeface="Bahnschrift"/>
              </a:rPr>
              <a:t>y respuesta con fuentes</a:t>
            </a:r>
          </a:p>
        </p:txBody>
      </p:sp>
      <p:sp>
        <p:nvSpPr>
          <p:cNvPr id="18" name="">
            <a:extLst xmlns:a="http://schemas.openxmlformats.org/drawingml/2006/main">
              <a:ext uri="{FF2B5EF4-FFF2-40B4-BE49-F238E27FC236}">
                <a16:creationId xmlns:a16="http://schemas.microsoft.com/office/drawing/2014/main" id="{F1A76DE9-ACD3-4B61-BD2F-9CA14A7ED5B2}"/>
              </a:ext>
            </a:extLst>
          </p:cNvPr>
          <p:cNvSpPr>
            <a:spLocks xmlns:a="http://schemas.openxmlformats.org/drawingml/2006/main" noGrp="1"/>
          </p:cNvSpPr>
          <p:nvPr/>
        </p:nvSpPr>
        <p:spPr>
          <a:xfrm xmlns:a="http://schemas.openxmlformats.org/drawingml/2006/main">
            <a:off x="685800" y="5219700"/>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7C5CFF"/>
                </a:solidFill>
                <a:latin typeface="Bahnschrift"/>
                <a:ea typeface="Bahnschrift"/>
                <a:cs typeface="Bahnschrift"/>
              </a:defRPr>
            </a:pPr>
            <a:r>
              <a:rPr sz="1350" b="1">
                <a:solidFill>
                  <a:srgbClr val="7C5CFF"/>
                </a:solidFill>
                <a:latin typeface="Bahnschrift"/>
                <a:ea typeface="Bahnschrift"/>
                <a:cs typeface="Bahnschrift"/>
              </a:rPr>
              <a:t>Mediremos</a:t>
            </a:r>
          </a:p>
        </p:txBody>
      </p:sp>
      <p:sp>
        <p:nvSpPr>
          <p:cNvPr id="19" name="">
            <a:extLst xmlns:a="http://schemas.openxmlformats.org/drawingml/2006/main">
              <a:ext uri="{FF2B5EF4-FFF2-40B4-BE49-F238E27FC236}">
                <a16:creationId xmlns:a16="http://schemas.microsoft.com/office/drawing/2014/main" id="{6CD908B7-E34B-4019-90A2-5EC0015C28E2}"/>
              </a:ext>
            </a:extLst>
          </p:cNvPr>
          <p:cNvSpPr>
            <a:spLocks xmlns:a="http://schemas.openxmlformats.org/drawingml/2006/main" noGrp="1"/>
          </p:cNvSpPr>
          <p:nvPr/>
        </p:nvSpPr>
        <p:spPr>
          <a:xfrm xmlns:a="http://schemas.openxmlformats.org/drawingml/2006/main">
            <a:off x="685800" y="5610225"/>
            <a:ext cx="2381250" cy="38100"/>
          </a:xfrm>
          <a:prstGeom xmlns:a="http://schemas.openxmlformats.org/drawingml/2006/main" prst="rect">
            <a:avLst/>
          </a:prstGeom>
          <a:solidFill xmlns:a="http://schemas.openxmlformats.org/drawingml/2006/main">
            <a:srgbClr val="FF637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9C9DA32F-2616-45D7-AF40-CA70530A5E49}"/>
              </a:ext>
            </a:extLst>
          </p:cNvPr>
          <p:cNvSpPr>
            <a:spLocks xmlns:a="http://schemas.openxmlformats.org/drawingml/2006/main" noGrp="1"/>
          </p:cNvSpPr>
          <p:nvPr/>
        </p:nvSpPr>
        <p:spPr>
          <a:xfrm xmlns:a="http://schemas.openxmlformats.org/drawingml/2006/main">
            <a:off x="685800" y="5762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FFFFF"/>
                </a:solidFill>
                <a:latin typeface="Bahnschrift"/>
                <a:ea typeface="Bahnschrift"/>
                <a:cs typeface="Bahnschrift"/>
              </a:defRPr>
            </a:pPr>
            <a:r>
              <a:rPr sz="1125" b="1">
                <a:solidFill>
                  <a:srgbClr val="FFFFFF"/>
                </a:solidFill>
                <a:latin typeface="Bahnschrift"/>
                <a:ea typeface="Bahnschrift"/>
                <a:cs typeface="Bahnschrift"/>
              </a:rPr>
              <a:t>TIEMPO</a:t>
            </a:r>
          </a:p>
        </p:txBody>
      </p:sp>
      <p:sp>
        <p:nvSpPr>
          <p:cNvPr id="21" name="">
            <a:extLst xmlns:a="http://schemas.openxmlformats.org/drawingml/2006/main">
              <a:ext uri="{FF2B5EF4-FFF2-40B4-BE49-F238E27FC236}">
                <a16:creationId xmlns:a16="http://schemas.microsoft.com/office/drawing/2014/main" id="{3842C01B-DB42-481F-B803-853C45A47183}"/>
              </a:ext>
            </a:extLst>
          </p:cNvPr>
          <p:cNvSpPr>
            <a:spLocks xmlns:a="http://schemas.openxmlformats.org/drawingml/2006/main" noGrp="1"/>
          </p:cNvSpPr>
          <p:nvPr/>
        </p:nvSpPr>
        <p:spPr>
          <a:xfrm xmlns:a="http://schemas.openxmlformats.org/drawingml/2006/main">
            <a:off x="685800" y="60388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9791AA"/>
                </a:solidFill>
                <a:latin typeface="Bahnschrift"/>
                <a:ea typeface="Bahnschrift"/>
                <a:cs typeface="Bahnschrift"/>
              </a:defRPr>
            </a:pPr>
            <a:r>
              <a:rPr sz="1125" b="0">
                <a:solidFill>
                  <a:srgbClr val="9791AA"/>
                </a:solidFill>
                <a:latin typeface="Bahnschrift"/>
                <a:ea typeface="Bahnschrift"/>
                <a:cs typeface="Bahnschrift"/>
              </a:rPr>
              <a:t>minutos</a:t>
            </a:r>
          </a:p>
        </p:txBody>
      </p:sp>
      <p:sp>
        <p:nvSpPr>
          <p:cNvPr id="22" name="">
            <a:extLst xmlns:a="http://schemas.openxmlformats.org/drawingml/2006/main">
              <a:ext uri="{FF2B5EF4-FFF2-40B4-BE49-F238E27FC236}">
                <a16:creationId xmlns:a16="http://schemas.microsoft.com/office/drawing/2014/main" id="{FB088333-3F63-4784-A7B1-3C5C1F2C0BA5}"/>
              </a:ext>
            </a:extLst>
          </p:cNvPr>
          <p:cNvSpPr>
            <a:spLocks xmlns:a="http://schemas.openxmlformats.org/drawingml/2006/main" noGrp="1"/>
          </p:cNvSpPr>
          <p:nvPr/>
        </p:nvSpPr>
        <p:spPr>
          <a:xfrm xmlns:a="http://schemas.openxmlformats.org/drawingml/2006/main">
            <a:off x="3409950" y="5610225"/>
            <a:ext cx="2381250" cy="38100"/>
          </a:xfrm>
          <a:prstGeom xmlns:a="http://schemas.openxmlformats.org/drawingml/2006/main" prst="rect">
            <a:avLst/>
          </a:prstGeom>
          <a:solidFill xmlns:a="http://schemas.openxmlformats.org/drawingml/2006/main">
            <a:srgbClr val="36D7C4"/>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9CB181B9-EE03-4FF4-9B2D-4157C9F38148}"/>
              </a:ext>
            </a:extLst>
          </p:cNvPr>
          <p:cNvSpPr>
            <a:spLocks xmlns:a="http://schemas.openxmlformats.org/drawingml/2006/main" noGrp="1"/>
          </p:cNvSpPr>
          <p:nvPr/>
        </p:nvSpPr>
        <p:spPr>
          <a:xfrm xmlns:a="http://schemas.openxmlformats.org/drawingml/2006/main">
            <a:off x="3409950" y="5762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FFFFF"/>
                </a:solidFill>
                <a:latin typeface="Bahnschrift"/>
                <a:ea typeface="Bahnschrift"/>
                <a:cs typeface="Bahnschrift"/>
              </a:defRPr>
            </a:pPr>
            <a:r>
              <a:rPr sz="1125" b="1">
                <a:solidFill>
                  <a:srgbClr val="FFFFFF"/>
                </a:solidFill>
                <a:latin typeface="Bahnschrift"/>
                <a:ea typeface="Bahnschrift"/>
                <a:cs typeface="Bahnschrift"/>
              </a:rPr>
              <a:t>PRECISIÓN</a:t>
            </a:r>
          </a:p>
        </p:txBody>
      </p:sp>
      <p:sp>
        <p:nvSpPr>
          <p:cNvPr id="24" name="">
            <a:extLst xmlns:a="http://schemas.openxmlformats.org/drawingml/2006/main">
              <a:ext uri="{FF2B5EF4-FFF2-40B4-BE49-F238E27FC236}">
                <a16:creationId xmlns:a16="http://schemas.microsoft.com/office/drawing/2014/main" id="{E9650970-6DE4-428E-A05B-0C20EA87ED1E}"/>
              </a:ext>
            </a:extLst>
          </p:cNvPr>
          <p:cNvSpPr>
            <a:spLocks xmlns:a="http://schemas.openxmlformats.org/drawingml/2006/main" noGrp="1"/>
          </p:cNvSpPr>
          <p:nvPr/>
        </p:nvSpPr>
        <p:spPr>
          <a:xfrm xmlns:a="http://schemas.openxmlformats.org/drawingml/2006/main">
            <a:off x="3409950" y="60388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9791AA"/>
                </a:solidFill>
                <a:latin typeface="Bahnschrift"/>
                <a:ea typeface="Bahnschrift"/>
                <a:cs typeface="Bahnschrift"/>
              </a:defRPr>
            </a:pPr>
            <a:r>
              <a:rPr sz="1125" b="0">
                <a:solidFill>
                  <a:srgbClr val="9791AA"/>
                </a:solidFill>
                <a:latin typeface="Bahnschrift"/>
                <a:ea typeface="Bahnschrift"/>
                <a:cs typeface="Bahnschrift"/>
              </a:rPr>
              <a:t>rúbrica técnica</a:t>
            </a:r>
          </a:p>
        </p:txBody>
      </p:sp>
      <p:sp>
        <p:nvSpPr>
          <p:cNvPr id="25" name="">
            <a:extLst xmlns:a="http://schemas.openxmlformats.org/drawingml/2006/main">
              <a:ext uri="{FF2B5EF4-FFF2-40B4-BE49-F238E27FC236}">
                <a16:creationId xmlns:a16="http://schemas.microsoft.com/office/drawing/2014/main" id="{8C3BD232-6096-49EE-8C6D-9F2C441E86C2}"/>
              </a:ext>
            </a:extLst>
          </p:cNvPr>
          <p:cNvSpPr>
            <a:spLocks xmlns:a="http://schemas.openxmlformats.org/drawingml/2006/main" noGrp="1"/>
          </p:cNvSpPr>
          <p:nvPr/>
        </p:nvSpPr>
        <p:spPr>
          <a:xfrm xmlns:a="http://schemas.openxmlformats.org/drawingml/2006/main">
            <a:off x="6134100" y="5610225"/>
            <a:ext cx="2381250" cy="38100"/>
          </a:xfrm>
          <a:prstGeom xmlns:a="http://schemas.openxmlformats.org/drawingml/2006/main" prst="rect">
            <a:avLst/>
          </a:prstGeom>
          <a:solidFill xmlns:a="http://schemas.openxmlformats.org/drawingml/2006/main">
            <a:srgbClr val="D9FF5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D374780-5448-4DF6-97D3-4305B0D06555}"/>
              </a:ext>
            </a:extLst>
          </p:cNvPr>
          <p:cNvSpPr>
            <a:spLocks xmlns:a="http://schemas.openxmlformats.org/drawingml/2006/main" noGrp="1"/>
          </p:cNvSpPr>
          <p:nvPr/>
        </p:nvSpPr>
        <p:spPr>
          <a:xfrm xmlns:a="http://schemas.openxmlformats.org/drawingml/2006/main">
            <a:off x="6134100" y="5762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FFFFF"/>
                </a:solidFill>
                <a:latin typeface="Bahnschrift"/>
                <a:ea typeface="Bahnschrift"/>
                <a:cs typeface="Bahnschrift"/>
              </a:defRPr>
            </a:pPr>
            <a:r>
              <a:rPr sz="1125" b="1">
                <a:solidFill>
                  <a:srgbClr val="FFFFFF"/>
                </a:solidFill>
                <a:latin typeface="Bahnschrift"/>
                <a:ea typeface="Bahnschrift"/>
                <a:cs typeface="Bahnschrift"/>
              </a:rPr>
              <a:t>OMISIONES</a:t>
            </a:r>
          </a:p>
        </p:txBody>
      </p:sp>
      <p:sp>
        <p:nvSpPr>
          <p:cNvPr id="27" name="">
            <a:extLst xmlns:a="http://schemas.openxmlformats.org/drawingml/2006/main">
              <a:ext uri="{FF2B5EF4-FFF2-40B4-BE49-F238E27FC236}">
                <a16:creationId xmlns:a16="http://schemas.microsoft.com/office/drawing/2014/main" id="{4A68DF5D-BA2C-425C-A6BC-97D8F91585A6}"/>
              </a:ext>
            </a:extLst>
          </p:cNvPr>
          <p:cNvSpPr>
            <a:spLocks xmlns:a="http://schemas.openxmlformats.org/drawingml/2006/main" noGrp="1"/>
          </p:cNvSpPr>
          <p:nvPr/>
        </p:nvSpPr>
        <p:spPr>
          <a:xfrm xmlns:a="http://schemas.openxmlformats.org/drawingml/2006/main">
            <a:off x="6134100" y="60388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9791AA"/>
                </a:solidFill>
                <a:latin typeface="Bahnschrift"/>
                <a:ea typeface="Bahnschrift"/>
                <a:cs typeface="Bahnschrift"/>
              </a:defRPr>
            </a:pPr>
            <a:r>
              <a:rPr sz="1125" b="0">
                <a:solidFill>
                  <a:srgbClr val="9791AA"/>
                </a:solidFill>
                <a:latin typeface="Bahnschrift"/>
                <a:ea typeface="Bahnschrift"/>
                <a:cs typeface="Bahnschrift"/>
              </a:rPr>
              <a:t>datos importantes</a:t>
            </a:r>
          </a:p>
        </p:txBody>
      </p:sp>
      <p:sp>
        <p:nvSpPr>
          <p:cNvPr id="28" name="">
            <a:extLst xmlns:a="http://schemas.openxmlformats.org/drawingml/2006/main">
              <a:ext uri="{FF2B5EF4-FFF2-40B4-BE49-F238E27FC236}">
                <a16:creationId xmlns:a16="http://schemas.microsoft.com/office/drawing/2014/main" id="{BBB78998-0912-4DD6-9848-6BB93DF29C99}"/>
              </a:ext>
            </a:extLst>
          </p:cNvPr>
          <p:cNvSpPr>
            <a:spLocks xmlns:a="http://schemas.openxmlformats.org/drawingml/2006/main" noGrp="1"/>
          </p:cNvSpPr>
          <p:nvPr/>
        </p:nvSpPr>
        <p:spPr>
          <a:xfrm xmlns:a="http://schemas.openxmlformats.org/drawingml/2006/main">
            <a:off x="8858250" y="5610225"/>
            <a:ext cx="2381250" cy="38100"/>
          </a:xfrm>
          <a:prstGeom xmlns:a="http://schemas.openxmlformats.org/drawingml/2006/main" prst="rect">
            <a:avLst/>
          </a:prstGeom>
          <a:solidFill xmlns:a="http://schemas.openxmlformats.org/drawingml/2006/main">
            <a:srgbClr val="7C5CFF"/>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4294265B-E641-430F-9829-312D70AC3E80}"/>
              </a:ext>
            </a:extLst>
          </p:cNvPr>
          <p:cNvSpPr>
            <a:spLocks xmlns:a="http://schemas.openxmlformats.org/drawingml/2006/main" noGrp="1"/>
          </p:cNvSpPr>
          <p:nvPr/>
        </p:nvSpPr>
        <p:spPr>
          <a:xfrm xmlns:a="http://schemas.openxmlformats.org/drawingml/2006/main">
            <a:off x="8858250" y="5762625"/>
            <a:ext cx="238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FFFFFF"/>
                </a:solidFill>
                <a:latin typeface="Bahnschrift"/>
                <a:ea typeface="Bahnschrift"/>
                <a:cs typeface="Bahnschrift"/>
              </a:defRPr>
            </a:pPr>
            <a:r>
              <a:rPr sz="1125" b="1">
                <a:solidFill>
                  <a:srgbClr val="FFFFFF"/>
                </a:solidFill>
                <a:latin typeface="Bahnschrift"/>
                <a:ea typeface="Bahnschrift"/>
                <a:cs typeface="Bahnschrift"/>
              </a:rPr>
              <a:t>TRAZABILIDAD</a:t>
            </a:r>
          </a:p>
        </p:txBody>
      </p:sp>
      <p:sp>
        <p:nvSpPr>
          <p:cNvPr id="30" name="">
            <a:extLst xmlns:a="http://schemas.openxmlformats.org/drawingml/2006/main">
              <a:ext uri="{FF2B5EF4-FFF2-40B4-BE49-F238E27FC236}">
                <a16:creationId xmlns:a16="http://schemas.microsoft.com/office/drawing/2014/main" id="{1D48A35C-AD76-4A56-BDB3-EB2E69E45197}"/>
              </a:ext>
            </a:extLst>
          </p:cNvPr>
          <p:cNvSpPr>
            <a:spLocks xmlns:a="http://schemas.openxmlformats.org/drawingml/2006/main" noGrp="1"/>
          </p:cNvSpPr>
          <p:nvPr/>
        </p:nvSpPr>
        <p:spPr>
          <a:xfrm xmlns:a="http://schemas.openxmlformats.org/drawingml/2006/main">
            <a:off x="8858250" y="60388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0">
                <a:solidFill>
                  <a:srgbClr val="9791AA"/>
                </a:solidFill>
                <a:latin typeface="Bahnschrift"/>
                <a:ea typeface="Bahnschrift"/>
                <a:cs typeface="Bahnschrift"/>
              </a:defRPr>
            </a:pPr>
            <a:r>
              <a:rPr sz="1125" b="0">
                <a:solidFill>
                  <a:srgbClr val="9791AA"/>
                </a:solidFill>
                <a:latin typeface="Bahnschrift"/>
                <a:ea typeface="Bahnschrift"/>
                <a:cs typeface="Bahnschrift"/>
              </a:rPr>
              <a:t>justificación y fuentes</a:t>
            </a:r>
          </a:p>
        </p:txBody>
      </p:sp>
    </p:spTree>
    <p:extLst>
      <p:ext uri="{BB962C8B-B14F-4D97-AF65-F5344CB8AC3E}">
        <p14:creationId xmlns:p14="http://schemas.microsoft.com/office/powerpoint/2010/main" val="1045108288"/>
      </p:ext>
    </p:extLst>
  </p:cSld>
</p:sld>
</file>

<file path=ppt/slides/slide4.xml><?xml version="1.0" encoding="utf-8"?>
<p:sld xmlns:p="http://schemas.openxmlformats.org/presentationml/2006/main">
  <p:cSld>
    <p:bg>
      <p:bgPr>
        <a:solidFill xmlns:a="http://schemas.openxmlformats.org/drawingml/2006/main">
          <a:srgbClr val="0C0B20"/>
        </a:solidFill>
      </p:bgPr>
    </p:bg>
    <p:spTree>
      <p:nvGrpSpPr>
        <p:cNvPr id="1" name=""/>
        <p:cNvGrpSpPr/>
        <p:nvPr/>
      </p:nvGrpSpPr>
      <p:grpSpPr>
        <a:xfrm xmlns:a="http://schemas.openxmlformats.org/drawingml/2006/main"/>
      </p:grpSpPr>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1bff32a2f594ed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BAE6192-9CA9-4A8F-AF96-8BE1FB01A11E}"/>
              </a:ext>
            </a:extLst>
          </p:cNvPr>
          <p:cNvSpPr>
            <a:spLocks xmlns:a="http://schemas.openxmlformats.org/drawingml/2006/main" noGrp="1"/>
          </p:cNvSpPr>
          <p:nvPr/>
        </p:nvSpPr>
        <p:spPr>
          <a:xfrm xmlns:a="http://schemas.openxmlformats.org/drawingml/2006/main">
            <a:off x="0" y="0"/>
            <a:ext cx="8763000" cy="6858000"/>
          </a:xfrm>
          <a:prstGeom xmlns:a="http://schemas.openxmlformats.org/drawingml/2006/main" prst="rect">
            <a:avLst/>
          </a:prstGeom>
          <a:gradFill xmlns:a="http://schemas.openxmlformats.org/drawingml/2006/main">
            <a:gsLst>
              <a:gs pos="0">
                <a:srgbClr val="0C0B20">
                  <a:alpha val="99000"/>
                </a:srgbClr>
              </a:gs>
              <a:gs pos="70000">
                <a:srgbClr val="0C0B20">
                  <a:alpha val="92000"/>
                </a:srgbClr>
              </a:gs>
              <a:gs pos="100000">
                <a:srgbClr val="0C0B20">
                  <a:alpha val="0"/>
                </a:srgbClr>
              </a:gs>
            </a:gsLst>
            <a:lin ang="0"/>
          </a:gra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080D8AF-C180-43E6-9D67-D665863B4BEA}"/>
              </a:ext>
            </a:extLst>
          </p:cNvPr>
          <p:cNvSpPr>
            <a:spLocks xmlns:a="http://schemas.openxmlformats.org/drawingml/2006/main" noGrp="1"/>
          </p:cNvSpPr>
          <p:nvPr/>
        </p:nvSpPr>
        <p:spPr>
          <a:xfrm xmlns:a="http://schemas.openxmlformats.org/drawingml/2006/main">
            <a:off x="666750" y="323850"/>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125" b="1">
                <a:solidFill>
                  <a:srgbClr val="D9FF5B"/>
                </a:solidFill>
                <a:latin typeface="Bahnschrift"/>
                <a:ea typeface="Bahnschrift"/>
                <a:cs typeface="Bahnschrift"/>
              </a:defRPr>
            </a:pPr>
            <a:r>
              <a:rPr sz="1125" b="1">
                <a:solidFill>
                  <a:srgbClr val="D9FF5B"/>
                </a:solidFill>
                <a:latin typeface="Bahnschrift"/>
                <a:ea typeface="Bahnschrift"/>
                <a:cs typeface="Bahnschrift"/>
              </a:rPr>
              <a:t>MANTIS IA</a:t>
            </a:r>
          </a:p>
        </p:txBody>
      </p:sp>
      <p:sp>
        <p:nvSpPr>
          <p:cNvPr id="4" name="">
            <a:extLst xmlns:a="http://schemas.openxmlformats.org/drawingml/2006/main">
              <a:ext uri="{FF2B5EF4-FFF2-40B4-BE49-F238E27FC236}">
                <a16:creationId xmlns:a16="http://schemas.microsoft.com/office/drawing/2014/main" id="{C64A0A9D-B8E9-4066-A0AA-847A7AC0F811}"/>
              </a:ext>
            </a:extLst>
          </p:cNvPr>
          <p:cNvSpPr>
            <a:spLocks xmlns:a="http://schemas.openxmlformats.org/drawingml/2006/main" noGrp="1"/>
          </p:cNvSpPr>
          <p:nvPr/>
        </p:nvSpPr>
        <p:spPr>
          <a:xfrm xmlns:a="http://schemas.openxmlformats.org/drawingml/2006/main">
            <a:off x="11001375" y="304800"/>
            <a:ext cx="53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0000"/>
              </a:lnSpc>
              <a:buNone/>
              <a:defRPr sz="1275" b="1">
                <a:solidFill>
                  <a:srgbClr val="8E88A6"/>
                </a:solidFill>
                <a:latin typeface="Bahnschrift"/>
                <a:ea typeface="Bahnschrift"/>
                <a:cs typeface="Bahnschrift"/>
              </a:defRPr>
            </a:pPr>
            <a:r>
              <a:rPr sz="1275" b="1">
                <a:solidFill>
                  <a:srgbClr val="8E88A6"/>
                </a:solidFill>
                <a:latin typeface="Bahnschrift"/>
                <a:ea typeface="Bahnschrift"/>
                <a:cs typeface="Bahnschrift"/>
              </a:rPr>
              <a:t>04</a:t>
            </a:r>
          </a:p>
        </p:txBody>
      </p:sp>
      <p:sp>
        <p:nvSpPr>
          <p:cNvPr id="5" name="">
            <a:extLst xmlns:a="http://schemas.openxmlformats.org/drawingml/2006/main">
              <a:ext uri="{FF2B5EF4-FFF2-40B4-BE49-F238E27FC236}">
                <a16:creationId xmlns:a16="http://schemas.microsoft.com/office/drawing/2014/main" id="{1C8EFAB7-0DF1-4BD2-94D6-310F12A8D9C4}"/>
              </a:ext>
            </a:extLst>
          </p:cNvPr>
          <p:cNvSpPr>
            <a:spLocks xmlns:a="http://schemas.openxmlformats.org/drawingml/2006/main" noGrp="1"/>
          </p:cNvSpPr>
          <p:nvPr/>
        </p:nvSpPr>
        <p:spPr>
          <a:xfrm xmlns:a="http://schemas.openxmlformats.org/drawingml/2006/main">
            <a:off x="666750" y="781050"/>
            <a:ext cx="7334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3525" b="1">
                <a:solidFill>
                  <a:srgbClr val="FFFFFF"/>
                </a:solidFill>
                <a:latin typeface="Bahnschrift"/>
                <a:ea typeface="Bahnschrift"/>
                <a:cs typeface="Bahnschrift"/>
              </a:defRPr>
            </a:pPr>
            <a:r>
              <a:rPr sz="3525" b="1">
                <a:solidFill>
                  <a:srgbClr val="FFFFFF"/>
                </a:solidFill>
                <a:latin typeface="Bahnschrift"/>
                <a:ea typeface="Bahnschrift"/>
                <a:cs typeface="Bahnschrift"/>
              </a:rPr>
              <a:t>Cuatro preguntas clave</a:t>
            </a:r>
          </a:p>
        </p:txBody>
      </p:sp>
      <p:sp>
        <p:nvSpPr>
          <p:cNvPr id="6" name="">
            <a:extLst xmlns:a="http://schemas.openxmlformats.org/drawingml/2006/main">
              <a:ext uri="{FF2B5EF4-FFF2-40B4-BE49-F238E27FC236}">
                <a16:creationId xmlns:a16="http://schemas.microsoft.com/office/drawing/2014/main" id="{8BCD7858-0618-4AD6-8845-B5973DF6EB0C}"/>
              </a:ext>
            </a:extLst>
          </p:cNvPr>
          <p:cNvSpPr>
            <a:spLocks xmlns:a="http://schemas.openxmlformats.org/drawingml/2006/main" noGrp="1"/>
          </p:cNvSpPr>
          <p:nvPr/>
        </p:nvSpPr>
        <p:spPr>
          <a:xfrm xmlns:a="http://schemas.openxmlformats.org/drawingml/2006/main">
            <a:off x="685800" y="1457325"/>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500" b="0">
                <a:solidFill>
                  <a:srgbClr val="B9B4CB"/>
                </a:solidFill>
                <a:latin typeface="Bahnschrift"/>
                <a:ea typeface="Bahnschrift"/>
                <a:cs typeface="Bahnschrift"/>
              </a:defRPr>
            </a:pPr>
            <a:r>
              <a:rPr sz="1500" b="0">
                <a:solidFill>
                  <a:srgbClr val="B9B4CB"/>
                </a:solidFill>
                <a:latin typeface="Bahnschrift"/>
                <a:ea typeface="Bahnschrift"/>
                <a:cs typeface="Bahnschrift"/>
              </a:rPr>
              <a:t>Su experiencia puede ayudarnos a elegir el problema y el experimento correctos.</a:t>
            </a:r>
          </a:p>
        </p:txBody>
      </p:sp>
      <p:sp>
        <p:nvSpPr>
          <p:cNvPr id="7" name="">
            <a:extLst xmlns:a="http://schemas.openxmlformats.org/drawingml/2006/main">
              <a:ext uri="{FF2B5EF4-FFF2-40B4-BE49-F238E27FC236}">
                <a16:creationId xmlns:a16="http://schemas.microsoft.com/office/drawing/2014/main" id="{26235BC4-F585-4B53-8AAA-C21BD7623441}"/>
              </a:ext>
            </a:extLst>
          </p:cNvPr>
          <p:cNvSpPr>
            <a:spLocks xmlns:a="http://schemas.openxmlformats.org/drawingml/2006/main" noGrp="1"/>
          </p:cNvSpPr>
          <p:nvPr/>
        </p:nvSpPr>
        <p:spPr>
          <a:xfrm xmlns:a="http://schemas.openxmlformats.org/drawingml/2006/main">
            <a:off x="685800" y="217170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D9FF5B"/>
                </a:solidFill>
                <a:latin typeface="Bahnschrift"/>
                <a:ea typeface="Bahnschrift"/>
                <a:cs typeface="Bahnschrift"/>
              </a:defRPr>
            </a:pPr>
            <a:r>
              <a:rPr sz="1350" b="1">
                <a:solidFill>
                  <a:srgbClr val="D9FF5B"/>
                </a:solidFill>
                <a:latin typeface="Bahnschrift"/>
                <a:ea typeface="Bahnschrift"/>
                <a:cs typeface="Bahnschrift"/>
              </a:rPr>
              <a:t>01</a:t>
            </a:r>
          </a:p>
        </p:txBody>
      </p:sp>
      <p:sp>
        <p:nvSpPr>
          <p:cNvPr id="8" name="">
            <a:extLst xmlns:a="http://schemas.openxmlformats.org/drawingml/2006/main">
              <a:ext uri="{FF2B5EF4-FFF2-40B4-BE49-F238E27FC236}">
                <a16:creationId xmlns:a16="http://schemas.microsoft.com/office/drawing/2014/main" id="{8E630EB1-1847-4466-BFCE-1E0EA6F9B397}"/>
              </a:ext>
            </a:extLst>
          </p:cNvPr>
          <p:cNvSpPr>
            <a:spLocks xmlns:a="http://schemas.openxmlformats.org/drawingml/2006/main" noGrp="1"/>
          </p:cNvSpPr>
          <p:nvPr/>
        </p:nvSpPr>
        <p:spPr>
          <a:xfrm xmlns:a="http://schemas.openxmlformats.org/drawingml/2006/main">
            <a:off x="1371600" y="2133600"/>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¿En qué parte del mantenimiento preventivo se pierde más tiempo o se cometen más errores?</a:t>
            </a:r>
          </a:p>
        </p:txBody>
      </p:sp>
      <p:sp>
        <p:nvSpPr>
          <p:cNvPr id="9" name="">
            <a:extLst xmlns:a="http://schemas.openxmlformats.org/drawingml/2006/main">
              <a:ext uri="{FF2B5EF4-FFF2-40B4-BE49-F238E27FC236}">
                <a16:creationId xmlns:a16="http://schemas.microsoft.com/office/drawing/2014/main" id="{B5782495-CFAE-464A-9D99-3259A9D626AE}"/>
              </a:ext>
            </a:extLst>
          </p:cNvPr>
          <p:cNvSpPr>
            <a:spLocks xmlns:a="http://schemas.openxmlformats.org/drawingml/2006/main" noGrp="1"/>
          </p:cNvSpPr>
          <p:nvPr/>
        </p:nvSpPr>
        <p:spPr>
          <a:xfrm xmlns:a="http://schemas.openxmlformats.org/drawingml/2006/main">
            <a:off x="1371600" y="2895600"/>
            <a:ext cx="5905500" cy="19050"/>
          </a:xfrm>
          <a:prstGeom xmlns:a="http://schemas.openxmlformats.org/drawingml/2006/main" prst="rect">
            <a:avLst/>
          </a:prstGeom>
          <a:solidFill xmlns:a="http://schemas.openxmlformats.org/drawingml/2006/main">
            <a:srgbClr val="332D4D"/>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ACF3BEB-D74D-4EE9-94FC-F3530D79EEBD}"/>
              </a:ext>
            </a:extLst>
          </p:cNvPr>
          <p:cNvSpPr>
            <a:spLocks xmlns:a="http://schemas.openxmlformats.org/drawingml/2006/main" noGrp="1"/>
          </p:cNvSpPr>
          <p:nvPr/>
        </p:nvSpPr>
        <p:spPr>
          <a:xfrm xmlns:a="http://schemas.openxmlformats.org/drawingml/2006/main">
            <a:off x="685800" y="3171825"/>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36D7C4"/>
                </a:solidFill>
                <a:latin typeface="Bahnschrift"/>
                <a:ea typeface="Bahnschrift"/>
                <a:cs typeface="Bahnschrift"/>
              </a:defRPr>
            </a:pPr>
            <a:r>
              <a:rPr sz="1350" b="1">
                <a:solidFill>
                  <a:srgbClr val="36D7C4"/>
                </a:solidFill>
                <a:latin typeface="Bahnschrift"/>
                <a:ea typeface="Bahnschrift"/>
                <a:cs typeface="Bahnschrift"/>
              </a:rPr>
              <a:t>02</a:t>
            </a:r>
          </a:p>
        </p:txBody>
      </p:sp>
      <p:sp>
        <p:nvSpPr>
          <p:cNvPr id="11" name="">
            <a:extLst xmlns:a="http://schemas.openxmlformats.org/drawingml/2006/main">
              <a:ext uri="{FF2B5EF4-FFF2-40B4-BE49-F238E27FC236}">
                <a16:creationId xmlns:a16="http://schemas.microsoft.com/office/drawing/2014/main" id="{A9073E47-5CD0-4FE2-9F5C-D4CC9525879B}"/>
              </a:ext>
            </a:extLst>
          </p:cNvPr>
          <p:cNvSpPr>
            <a:spLocks xmlns:a="http://schemas.openxmlformats.org/drawingml/2006/main" noGrp="1"/>
          </p:cNvSpPr>
          <p:nvPr/>
        </p:nvSpPr>
        <p:spPr>
          <a:xfrm xmlns:a="http://schemas.openxmlformats.org/drawingml/2006/main">
            <a:off x="1371600" y="313372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¿Qué información mínima necesita un técnico antes de decidir qué revisar?</a:t>
            </a:r>
          </a:p>
        </p:txBody>
      </p:sp>
      <p:sp>
        <p:nvSpPr>
          <p:cNvPr id="12" name="">
            <a:extLst xmlns:a="http://schemas.openxmlformats.org/drawingml/2006/main">
              <a:ext uri="{FF2B5EF4-FFF2-40B4-BE49-F238E27FC236}">
                <a16:creationId xmlns:a16="http://schemas.microsoft.com/office/drawing/2014/main" id="{7CB4C6A3-0238-4564-80CD-895DB064196F}"/>
              </a:ext>
            </a:extLst>
          </p:cNvPr>
          <p:cNvSpPr>
            <a:spLocks xmlns:a="http://schemas.openxmlformats.org/drawingml/2006/main" noGrp="1"/>
          </p:cNvSpPr>
          <p:nvPr/>
        </p:nvSpPr>
        <p:spPr>
          <a:xfrm xmlns:a="http://schemas.openxmlformats.org/drawingml/2006/main">
            <a:off x="1371600" y="3895725"/>
            <a:ext cx="5905500" cy="19050"/>
          </a:xfrm>
          <a:prstGeom xmlns:a="http://schemas.openxmlformats.org/drawingml/2006/main" prst="rect">
            <a:avLst/>
          </a:prstGeom>
          <a:solidFill xmlns:a="http://schemas.openxmlformats.org/drawingml/2006/main">
            <a:srgbClr val="332D4D"/>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C2CF466-DA04-41BF-8B09-87C2452173B3}"/>
              </a:ext>
            </a:extLst>
          </p:cNvPr>
          <p:cNvSpPr>
            <a:spLocks xmlns:a="http://schemas.openxmlformats.org/drawingml/2006/main" noGrp="1"/>
          </p:cNvSpPr>
          <p:nvPr/>
        </p:nvSpPr>
        <p:spPr>
          <a:xfrm xmlns:a="http://schemas.openxmlformats.org/drawingml/2006/main">
            <a:off x="685800" y="4171950"/>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FF6378"/>
                </a:solidFill>
                <a:latin typeface="Bahnschrift"/>
                <a:ea typeface="Bahnschrift"/>
                <a:cs typeface="Bahnschrift"/>
              </a:defRPr>
            </a:pPr>
            <a:r>
              <a:rPr sz="1350" b="1">
                <a:solidFill>
                  <a:srgbClr val="FF6378"/>
                </a:solidFill>
                <a:latin typeface="Bahnschrift"/>
                <a:ea typeface="Bahnschrift"/>
                <a:cs typeface="Bahnschrift"/>
              </a:rPr>
              <a:t>03</a:t>
            </a:r>
          </a:p>
        </p:txBody>
      </p:sp>
      <p:sp>
        <p:nvSpPr>
          <p:cNvPr id="14" name="">
            <a:extLst xmlns:a="http://schemas.openxmlformats.org/drawingml/2006/main">
              <a:ext uri="{FF2B5EF4-FFF2-40B4-BE49-F238E27FC236}">
                <a16:creationId xmlns:a16="http://schemas.microsoft.com/office/drawing/2014/main" id="{91E74EE2-9F75-41C5-AD4D-9D30D9459FCD}"/>
              </a:ext>
            </a:extLst>
          </p:cNvPr>
          <p:cNvSpPr>
            <a:spLocks xmlns:a="http://schemas.openxmlformats.org/drawingml/2006/main" noGrp="1"/>
          </p:cNvSpPr>
          <p:nvPr/>
        </p:nvSpPr>
        <p:spPr>
          <a:xfrm xmlns:a="http://schemas.openxmlformats.org/drawingml/2006/main">
            <a:off x="1371600" y="4133850"/>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¿Qué máquina y qué tarea servirían para comparar los tres métodos de forma justa?</a:t>
            </a:r>
          </a:p>
        </p:txBody>
      </p:sp>
      <p:sp>
        <p:nvSpPr>
          <p:cNvPr id="15" name="">
            <a:extLst xmlns:a="http://schemas.openxmlformats.org/drawingml/2006/main">
              <a:ext uri="{FF2B5EF4-FFF2-40B4-BE49-F238E27FC236}">
                <a16:creationId xmlns:a16="http://schemas.microsoft.com/office/drawing/2014/main" id="{5339C1E9-03F4-43F4-B9BB-5DAA43818721}"/>
              </a:ext>
            </a:extLst>
          </p:cNvPr>
          <p:cNvSpPr>
            <a:spLocks xmlns:a="http://schemas.openxmlformats.org/drawingml/2006/main" noGrp="1"/>
          </p:cNvSpPr>
          <p:nvPr/>
        </p:nvSpPr>
        <p:spPr>
          <a:xfrm xmlns:a="http://schemas.openxmlformats.org/drawingml/2006/main">
            <a:off x="1371600" y="4895850"/>
            <a:ext cx="5905500" cy="19050"/>
          </a:xfrm>
          <a:prstGeom xmlns:a="http://schemas.openxmlformats.org/drawingml/2006/main" prst="rect">
            <a:avLst/>
          </a:prstGeom>
          <a:solidFill xmlns:a="http://schemas.openxmlformats.org/drawingml/2006/main">
            <a:srgbClr val="332D4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956A855-7845-480C-814B-F7FADCBA09A8}"/>
              </a:ext>
            </a:extLst>
          </p:cNvPr>
          <p:cNvSpPr>
            <a:spLocks xmlns:a="http://schemas.openxmlformats.org/drawingml/2006/main" noGrp="1"/>
          </p:cNvSpPr>
          <p:nvPr/>
        </p:nvSpPr>
        <p:spPr>
          <a:xfrm xmlns:a="http://schemas.openxmlformats.org/drawingml/2006/main">
            <a:off x="685800" y="5172075"/>
            <a:ext cx="514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1">
                <a:solidFill>
                  <a:srgbClr val="7C5CFF"/>
                </a:solidFill>
                <a:latin typeface="Bahnschrift"/>
                <a:ea typeface="Bahnschrift"/>
                <a:cs typeface="Bahnschrift"/>
              </a:defRPr>
            </a:pPr>
            <a:r>
              <a:rPr sz="1350" b="1">
                <a:solidFill>
                  <a:srgbClr val="7C5CFF"/>
                </a:solidFill>
                <a:latin typeface="Bahnschrift"/>
                <a:ea typeface="Bahnschrift"/>
                <a:cs typeface="Bahnschrift"/>
              </a:rPr>
              <a:t>04</a:t>
            </a:r>
          </a:p>
        </p:txBody>
      </p:sp>
      <p:sp>
        <p:nvSpPr>
          <p:cNvPr id="17" name="">
            <a:extLst xmlns:a="http://schemas.openxmlformats.org/drawingml/2006/main">
              <a:ext uri="{FF2B5EF4-FFF2-40B4-BE49-F238E27FC236}">
                <a16:creationId xmlns:a16="http://schemas.microsoft.com/office/drawing/2014/main" id="{EA7EF5AF-F777-4AB5-A447-809B4666002F}"/>
              </a:ext>
            </a:extLst>
          </p:cNvPr>
          <p:cNvSpPr>
            <a:spLocks xmlns:a="http://schemas.openxmlformats.org/drawingml/2006/main" noGrp="1"/>
          </p:cNvSpPr>
          <p:nvPr/>
        </p:nvSpPr>
        <p:spPr>
          <a:xfrm xmlns:a="http://schemas.openxmlformats.org/drawingml/2006/main">
            <a:off x="1371600" y="5133975"/>
            <a:ext cx="657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800" b="1">
                <a:solidFill>
                  <a:srgbClr val="FFFFFF"/>
                </a:solidFill>
                <a:latin typeface="Bahnschrift"/>
                <a:ea typeface="Bahnschrift"/>
                <a:cs typeface="Bahnschrift"/>
              </a:defRPr>
            </a:pPr>
            <a:r>
              <a:rPr sz="1800" b="1">
                <a:solidFill>
                  <a:srgbClr val="FFFFFF"/>
                </a:solidFill>
                <a:latin typeface="Bahnschrift"/>
                <a:ea typeface="Bahnschrift"/>
                <a:cs typeface="Bahnschrift"/>
              </a:rPr>
              <a:t>¿Qué define una respuesta correcta y qué error de IA sería inaceptable?</a:t>
            </a:r>
          </a:p>
        </p:txBody>
      </p:sp>
      <p:sp>
        <p:nvSpPr>
          <p:cNvPr id="18" name="">
            <a:extLst xmlns:a="http://schemas.openxmlformats.org/drawingml/2006/main">
              <a:ext uri="{FF2B5EF4-FFF2-40B4-BE49-F238E27FC236}">
                <a16:creationId xmlns:a16="http://schemas.microsoft.com/office/drawing/2014/main" id="{022A6FE3-10B8-40EA-8B80-6904217D6EA4}"/>
              </a:ext>
            </a:extLst>
          </p:cNvPr>
          <p:cNvSpPr>
            <a:spLocks xmlns:a="http://schemas.openxmlformats.org/drawingml/2006/main" noGrp="1"/>
          </p:cNvSpPr>
          <p:nvPr/>
        </p:nvSpPr>
        <p:spPr>
          <a:xfrm xmlns:a="http://schemas.openxmlformats.org/drawingml/2006/main">
            <a:off x="685800" y="62293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975" b="1">
                <a:solidFill>
                  <a:srgbClr val="D9FF5B"/>
                </a:solidFill>
                <a:latin typeface="Bahnschrift"/>
                <a:ea typeface="Bahnschrift"/>
                <a:cs typeface="Bahnschrift"/>
              </a:defRPr>
            </a:pPr>
            <a:r>
              <a:rPr sz="975" b="1">
                <a:solidFill>
                  <a:srgbClr val="D9FF5B"/>
                </a:solidFill>
                <a:latin typeface="Bahnschrift"/>
                <a:ea typeface="Bahnschrift"/>
                <a:cs typeface="Bahnschrift"/>
              </a:rPr>
              <a:t>SI QUEDA TIEMPO</a:t>
            </a:r>
          </a:p>
        </p:txBody>
      </p:sp>
      <p:sp>
        <p:nvSpPr>
          <p:cNvPr id="19" name="">
            <a:extLst xmlns:a="http://schemas.openxmlformats.org/drawingml/2006/main">
              <a:ext uri="{FF2B5EF4-FFF2-40B4-BE49-F238E27FC236}">
                <a16:creationId xmlns:a16="http://schemas.microsoft.com/office/drawing/2014/main" id="{7B8761AA-22E7-434E-AFAA-4569A4DA0F4B}"/>
              </a:ext>
            </a:extLst>
          </p:cNvPr>
          <p:cNvSpPr>
            <a:spLocks xmlns:a="http://schemas.openxmlformats.org/drawingml/2006/main" noGrp="1"/>
          </p:cNvSpPr>
          <p:nvPr/>
        </p:nvSpPr>
        <p:spPr>
          <a:xfrm xmlns:a="http://schemas.openxmlformats.org/drawingml/2006/main">
            <a:off x="2343150" y="61912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1350" b="0">
                <a:solidFill>
                  <a:srgbClr val="C8C3D4"/>
                </a:solidFill>
                <a:latin typeface="Bahnschrift"/>
                <a:ea typeface="Bahnschrift"/>
                <a:cs typeface="Bahnschrift"/>
              </a:defRPr>
            </a:pPr>
            <a:r>
              <a:rPr sz="1350" b="0">
                <a:solidFill>
                  <a:srgbClr val="C8C3D4"/>
                </a:solidFill>
                <a:latin typeface="Bahnschrift"/>
                <a:ea typeface="Bahnschrift"/>
                <a:cs typeface="Bahnschrift"/>
              </a:rPr>
              <a:t>¿Qué debería resolver Mantis primero?</a:t>
            </a:r>
          </a:p>
        </p:txBody>
      </p:sp>
    </p:spTree>
    <p:extLst>
      <p:ext uri="{BB962C8B-B14F-4D97-AF65-F5344CB8AC3E}">
        <p14:creationId xmlns:p14="http://schemas.microsoft.com/office/powerpoint/2010/main" val="13896111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2026-09-09T23:20:42.8850000Z</dcterms:created>
  <dcterms:modified xsi:type="dcterms:W3CDTF">2026-09-09T23:20:42.8850000Z</dcterms:modified>
</coreProperties>
</file>